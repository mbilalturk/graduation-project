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1" name="Shape 131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6"/>
          <p:cNvSpPr txBox="1"/>
          <p:nvPr/>
        </p:nvSpPr>
        <p:spPr>
          <a:xfrm>
            <a:off x="247222" y="6566958"/>
            <a:ext cx="1518926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00009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r>
              <a:t>www.gtu.edu.tr</a:t>
            </a:r>
          </a:p>
        </p:txBody>
      </p:sp>
      <p:sp>
        <p:nvSpPr>
          <p:cNvPr id="17" name="Başlık Metni"/>
          <p:cNvSpPr txBox="1"/>
          <p:nvPr>
            <p:ph type="title"/>
          </p:nvPr>
        </p:nvSpPr>
        <p:spPr>
          <a:xfrm>
            <a:off x="711200" y="2130425"/>
            <a:ext cx="10566400" cy="1470026"/>
          </a:xfrm>
          <a:prstGeom prst="rect">
            <a:avLst/>
          </a:prstGeom>
        </p:spPr>
        <p:txBody>
          <a:bodyPr anchor="ctr"/>
          <a:lstStyle>
            <a:lvl1pPr algn="r">
              <a:defRPr b="0" cap="none" sz="4400"/>
            </a:lvl1pPr>
          </a:lstStyle>
          <a:p>
            <a:pPr/>
            <a:r>
              <a:t>Başlık Metni</a:t>
            </a:r>
          </a:p>
        </p:txBody>
      </p:sp>
      <p:sp>
        <p:nvSpPr>
          <p:cNvPr id="18" name="Gövde Düzeyi Bir…"/>
          <p:cNvSpPr txBox="1"/>
          <p:nvPr>
            <p:ph type="body" sz="quarter" idx="1"/>
          </p:nvPr>
        </p:nvSpPr>
        <p:spPr>
          <a:xfrm>
            <a:off x="1761064" y="3600450"/>
            <a:ext cx="9516537" cy="1752600"/>
          </a:xfrm>
          <a:prstGeom prst="rect">
            <a:avLst/>
          </a:prstGeom>
        </p:spPr>
        <p:txBody>
          <a:bodyPr anchor="t"/>
          <a:lstStyle>
            <a:lvl1pPr algn="r">
              <a:spcBef>
                <a:spcPts val="700"/>
              </a:spcBef>
              <a:defRPr sz="3200">
                <a:solidFill>
                  <a:srgbClr val="000000"/>
                </a:solidFill>
              </a:defRPr>
            </a:lvl1pPr>
            <a:lvl2pPr algn="r">
              <a:spcBef>
                <a:spcPts val="700"/>
              </a:spcBef>
              <a:defRPr sz="3200">
                <a:solidFill>
                  <a:srgbClr val="000000"/>
                </a:solidFill>
              </a:defRPr>
            </a:lvl2pPr>
            <a:lvl3pPr algn="r">
              <a:spcBef>
                <a:spcPts val="700"/>
              </a:spcBef>
              <a:defRPr sz="3200">
                <a:solidFill>
                  <a:srgbClr val="000000"/>
                </a:solidFill>
              </a:defRPr>
            </a:lvl3pPr>
            <a:lvl4pPr algn="r">
              <a:spcBef>
                <a:spcPts val="700"/>
              </a:spcBef>
              <a:defRPr sz="3200">
                <a:solidFill>
                  <a:srgbClr val="000000"/>
                </a:solidFill>
              </a:defRPr>
            </a:lvl4pPr>
            <a:lvl5pPr algn="r">
              <a:spcBef>
                <a:spcPts val="700"/>
              </a:spcBef>
              <a:defRPr sz="3200">
                <a:solidFill>
                  <a:srgbClr val="000000"/>
                </a:solidFill>
              </a:defRPr>
            </a:lvl5pPr>
          </a:lstStyle>
          <a:p>
            <a:pPr/>
            <a:r>
              <a:t>Gövde Düzeyi Bir</a:t>
            </a:r>
          </a:p>
          <a:p>
            <a:pPr lvl="1"/>
            <a:r>
              <a:t>Gövde Düzeyi İki</a:t>
            </a:r>
          </a:p>
          <a:p>
            <a:pPr lvl="2"/>
            <a:r>
              <a:t>Gövde Düzeyi Üç</a:t>
            </a:r>
          </a:p>
          <a:p>
            <a:pPr lvl="3"/>
            <a:r>
              <a:t>Gövde Düzeyi Dört</a:t>
            </a:r>
          </a:p>
          <a:p>
            <a:pPr lvl="4"/>
            <a:r>
              <a:t>Gövde Düzeyi Beş</a:t>
            </a:r>
          </a:p>
        </p:txBody>
      </p:sp>
      <p:sp>
        <p:nvSpPr>
          <p:cNvPr id="19" name="Straight Connector 6"/>
          <p:cNvSpPr/>
          <p:nvPr/>
        </p:nvSpPr>
        <p:spPr>
          <a:xfrm>
            <a:off x="-2" y="1941763"/>
            <a:ext cx="12192005" cy="4"/>
          </a:xfrm>
          <a:prstGeom prst="line">
            <a:avLst/>
          </a:prstGeom>
          <a:ln w="25400">
            <a:solidFill>
              <a:srgbClr val="1A2A6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" name="Straight Connector 7"/>
          <p:cNvSpPr/>
          <p:nvPr/>
        </p:nvSpPr>
        <p:spPr>
          <a:xfrm>
            <a:off x="-2" y="2001023"/>
            <a:ext cx="12192005" cy="4"/>
          </a:xfrm>
          <a:prstGeom prst="line">
            <a:avLst/>
          </a:prstGeom>
          <a:ln w="25400">
            <a:solidFill>
              <a:srgbClr val="EE801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" name="Straight Connector 8"/>
          <p:cNvSpPr/>
          <p:nvPr/>
        </p:nvSpPr>
        <p:spPr>
          <a:xfrm>
            <a:off x="-2" y="2068756"/>
            <a:ext cx="12192005" cy="4"/>
          </a:xfrm>
          <a:prstGeom prst="line">
            <a:avLst/>
          </a:prstGeom>
          <a:ln w="25400">
            <a:solidFill>
              <a:srgbClr val="C1203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22" name="Resim 10" descr="Resim 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805652" y="164225"/>
            <a:ext cx="3391596" cy="1606385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Slayt Numarası"/>
          <p:cNvSpPr txBox="1"/>
          <p:nvPr>
            <p:ph type="sldNum" sz="quarter" idx="2"/>
          </p:nvPr>
        </p:nvSpPr>
        <p:spPr>
          <a:xfrm>
            <a:off x="11680576" y="6534470"/>
            <a:ext cx="243142" cy="26923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6"/>
          <p:cNvSpPr txBox="1"/>
          <p:nvPr/>
        </p:nvSpPr>
        <p:spPr>
          <a:xfrm>
            <a:off x="247222" y="6566958"/>
            <a:ext cx="1518926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00009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r>
              <a:t>www.gtu.edu.tr</a:t>
            </a:r>
          </a:p>
        </p:txBody>
      </p:sp>
      <p:sp>
        <p:nvSpPr>
          <p:cNvPr id="31" name="Başlık Metni"/>
          <p:cNvSpPr txBox="1"/>
          <p:nvPr>
            <p:ph type="title"/>
          </p:nvPr>
        </p:nvSpPr>
        <p:spPr>
          <a:xfrm>
            <a:off x="286170" y="279400"/>
            <a:ext cx="9755297" cy="760667"/>
          </a:xfrm>
          <a:prstGeom prst="rect">
            <a:avLst/>
          </a:prstGeom>
        </p:spPr>
        <p:txBody>
          <a:bodyPr anchor="ctr"/>
          <a:lstStyle>
            <a:lvl1pPr>
              <a:defRPr b="0" cap="none" sz="4400"/>
            </a:lvl1pPr>
          </a:lstStyle>
          <a:p>
            <a:pPr/>
            <a:r>
              <a:t>Başlık Metni</a:t>
            </a:r>
          </a:p>
        </p:txBody>
      </p:sp>
      <p:sp>
        <p:nvSpPr>
          <p:cNvPr id="32" name="Gövde Düzeyi Bir…"/>
          <p:cNvSpPr txBox="1"/>
          <p:nvPr>
            <p:ph type="body" idx="1"/>
          </p:nvPr>
        </p:nvSpPr>
        <p:spPr>
          <a:xfrm>
            <a:off x="286167" y="1409700"/>
            <a:ext cx="11637551" cy="4991100"/>
          </a:xfrm>
          <a:prstGeom prst="rect">
            <a:avLst/>
          </a:prstGeom>
        </p:spPr>
        <p:txBody>
          <a:bodyPr anchor="t"/>
          <a:lstStyle>
            <a:lvl1pPr marL="342900" indent="-342900">
              <a:spcBef>
                <a:spcPts val="700"/>
              </a:spcBef>
              <a:buSzPct val="100000"/>
              <a:buFont typeface="Arial"/>
              <a:buChar char="•"/>
              <a:defRPr sz="3200">
                <a:solidFill>
                  <a:srgbClr val="000000"/>
                </a:solidFill>
              </a:defRPr>
            </a:lvl1pPr>
            <a:lvl2pPr marL="783771" indent="-326571">
              <a:spcBef>
                <a:spcPts val="700"/>
              </a:spcBef>
              <a:buSzPct val="100000"/>
              <a:buFont typeface="Arial"/>
              <a:buChar char="–"/>
              <a:defRPr sz="3200">
                <a:solidFill>
                  <a:srgbClr val="000000"/>
                </a:solidFill>
              </a:defRPr>
            </a:lvl2pPr>
            <a:lvl3pPr marL="1219200" indent="-304800">
              <a:spcBef>
                <a:spcPts val="700"/>
              </a:spcBef>
              <a:buSzPct val="100000"/>
              <a:buFont typeface="Arial"/>
              <a:buChar char="•"/>
              <a:defRPr sz="3200">
                <a:solidFill>
                  <a:srgbClr val="000000"/>
                </a:solidFill>
              </a:defRPr>
            </a:lvl3pPr>
            <a:lvl4pPr marL="1737360" indent="-365760">
              <a:spcBef>
                <a:spcPts val="700"/>
              </a:spcBef>
              <a:buSzPct val="100000"/>
              <a:buFont typeface="Arial"/>
              <a:buChar char="–"/>
              <a:defRPr sz="3200">
                <a:solidFill>
                  <a:srgbClr val="000000"/>
                </a:solidFill>
              </a:defRPr>
            </a:lvl4pPr>
            <a:lvl5pPr marL="2194560" indent="-365760">
              <a:spcBef>
                <a:spcPts val="700"/>
              </a:spcBef>
              <a:buSzPct val="100000"/>
              <a:buFont typeface="Arial"/>
              <a:buChar char="»"/>
              <a:defRPr sz="3200">
                <a:solidFill>
                  <a:srgbClr val="000000"/>
                </a:solidFill>
              </a:defRPr>
            </a:lvl5pPr>
          </a:lstStyle>
          <a:p>
            <a:pPr/>
            <a:r>
              <a:t>Gövde Düzeyi Bir</a:t>
            </a:r>
          </a:p>
          <a:p>
            <a:pPr lvl="1"/>
            <a:r>
              <a:t>Gövde Düzeyi İki</a:t>
            </a:r>
          </a:p>
          <a:p>
            <a:pPr lvl="2"/>
            <a:r>
              <a:t>Gövde Düzeyi Üç</a:t>
            </a:r>
          </a:p>
          <a:p>
            <a:pPr lvl="3"/>
            <a:r>
              <a:t>Gövde Düzeyi Dört</a:t>
            </a:r>
          </a:p>
          <a:p>
            <a:pPr lvl="4"/>
            <a:r>
              <a:t>Gövde Düzeyi Beş</a:t>
            </a:r>
          </a:p>
        </p:txBody>
      </p:sp>
      <p:sp>
        <p:nvSpPr>
          <p:cNvPr id="33" name="Straight Connector 6"/>
          <p:cNvSpPr/>
          <p:nvPr/>
        </p:nvSpPr>
        <p:spPr>
          <a:xfrm>
            <a:off x="-2" y="1065462"/>
            <a:ext cx="12192005" cy="4"/>
          </a:xfrm>
          <a:prstGeom prst="line">
            <a:avLst/>
          </a:prstGeom>
          <a:ln w="25400">
            <a:solidFill>
              <a:srgbClr val="1A2A6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4" name="Straight Connector 7"/>
          <p:cNvSpPr/>
          <p:nvPr/>
        </p:nvSpPr>
        <p:spPr>
          <a:xfrm>
            <a:off x="-2" y="1124726"/>
            <a:ext cx="12192005" cy="4"/>
          </a:xfrm>
          <a:prstGeom prst="line">
            <a:avLst/>
          </a:prstGeom>
          <a:ln w="25400">
            <a:solidFill>
              <a:srgbClr val="EE801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" name="Straight Connector 8"/>
          <p:cNvSpPr/>
          <p:nvPr/>
        </p:nvSpPr>
        <p:spPr>
          <a:xfrm>
            <a:off x="-2" y="1192455"/>
            <a:ext cx="12192005" cy="4"/>
          </a:xfrm>
          <a:prstGeom prst="line">
            <a:avLst/>
          </a:prstGeom>
          <a:ln w="25400">
            <a:solidFill>
              <a:srgbClr val="C1203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36" name="Resim 10" descr="Resim 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257904" y="155911"/>
            <a:ext cx="1737366" cy="822881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Slayt Numarası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Başlık Metni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Başlık Metni</a:t>
            </a:r>
          </a:p>
        </p:txBody>
      </p:sp>
      <p:sp>
        <p:nvSpPr>
          <p:cNvPr id="45" name="Gövde Düzeyi Bir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Gövde Düzeyi Bir</a:t>
            </a:r>
          </a:p>
          <a:p>
            <a:pPr lvl="1"/>
            <a:r>
              <a:t>Gövde Düzeyi İki</a:t>
            </a:r>
          </a:p>
          <a:p>
            <a:pPr lvl="2"/>
            <a:r>
              <a:t>Gövde Düzeyi Üç</a:t>
            </a:r>
          </a:p>
          <a:p>
            <a:pPr lvl="3"/>
            <a:r>
              <a:t>Gövde Düzeyi Dört</a:t>
            </a:r>
          </a:p>
          <a:p>
            <a:pPr lvl="4"/>
            <a:r>
              <a:t>Gövde Düzeyi Beş</a:t>
            </a:r>
          </a:p>
        </p:txBody>
      </p:sp>
      <p:sp>
        <p:nvSpPr>
          <p:cNvPr id="46" name="Slayt Numarası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6"/>
          <p:cNvSpPr txBox="1"/>
          <p:nvPr/>
        </p:nvSpPr>
        <p:spPr>
          <a:xfrm>
            <a:off x="247222" y="6566958"/>
            <a:ext cx="1518926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00009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r>
              <a:t>www.gtu.edu.tr</a:t>
            </a:r>
          </a:p>
        </p:txBody>
      </p:sp>
      <p:sp>
        <p:nvSpPr>
          <p:cNvPr id="54" name="Straight Connector 5"/>
          <p:cNvSpPr/>
          <p:nvPr/>
        </p:nvSpPr>
        <p:spPr>
          <a:xfrm>
            <a:off x="-2" y="1065462"/>
            <a:ext cx="12192004" cy="4"/>
          </a:xfrm>
          <a:prstGeom prst="line">
            <a:avLst/>
          </a:prstGeom>
          <a:ln w="25400">
            <a:solidFill>
              <a:srgbClr val="1A2A6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" name="Straight Connector 6"/>
          <p:cNvSpPr/>
          <p:nvPr/>
        </p:nvSpPr>
        <p:spPr>
          <a:xfrm>
            <a:off x="-2" y="1124726"/>
            <a:ext cx="12192004" cy="4"/>
          </a:xfrm>
          <a:prstGeom prst="line">
            <a:avLst/>
          </a:prstGeom>
          <a:ln w="25400">
            <a:solidFill>
              <a:srgbClr val="EE801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" name="Straight Connector 7"/>
          <p:cNvSpPr/>
          <p:nvPr/>
        </p:nvSpPr>
        <p:spPr>
          <a:xfrm>
            <a:off x="-2" y="1192455"/>
            <a:ext cx="12192004" cy="4"/>
          </a:xfrm>
          <a:prstGeom prst="line">
            <a:avLst/>
          </a:prstGeom>
          <a:ln w="25400">
            <a:solidFill>
              <a:srgbClr val="C1203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57" name="Resim 9" descr="Resim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257904" y="130973"/>
            <a:ext cx="1737366" cy="822881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Başlık Metni"/>
          <p:cNvSpPr txBox="1"/>
          <p:nvPr>
            <p:ph type="title"/>
          </p:nvPr>
        </p:nvSpPr>
        <p:spPr>
          <a:xfrm>
            <a:off x="286170" y="279400"/>
            <a:ext cx="9789164" cy="760667"/>
          </a:xfrm>
          <a:prstGeom prst="rect">
            <a:avLst/>
          </a:prstGeom>
        </p:spPr>
        <p:txBody>
          <a:bodyPr anchor="ctr"/>
          <a:lstStyle>
            <a:lvl1pPr>
              <a:defRPr b="0" cap="none" sz="4400"/>
            </a:lvl1pPr>
          </a:lstStyle>
          <a:p>
            <a:pPr/>
            <a:r>
              <a:t>Başlık Metni</a:t>
            </a:r>
          </a:p>
        </p:txBody>
      </p:sp>
      <p:sp>
        <p:nvSpPr>
          <p:cNvPr id="59" name="Gövde Düzeyi Bir…"/>
          <p:cNvSpPr txBox="1"/>
          <p:nvPr>
            <p:ph type="body" sz="half" idx="1"/>
          </p:nvPr>
        </p:nvSpPr>
        <p:spPr>
          <a:xfrm>
            <a:off x="609600" y="1600200"/>
            <a:ext cx="5384800" cy="4525965"/>
          </a:xfrm>
          <a:prstGeom prst="rect">
            <a:avLst/>
          </a:prstGeom>
        </p:spPr>
        <p:txBody>
          <a:bodyPr anchor="t"/>
          <a:lstStyle>
            <a:lvl1pPr marL="342900" indent="-342900">
              <a:spcBef>
                <a:spcPts val="6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</a:defRPr>
            </a:lvl1pPr>
            <a:lvl2pPr marL="790575" indent="-333375">
              <a:spcBef>
                <a:spcPts val="600"/>
              </a:spcBef>
              <a:buSzPct val="100000"/>
              <a:buFont typeface="Arial"/>
              <a:buChar char="–"/>
              <a:defRPr sz="2800">
                <a:solidFill>
                  <a:srgbClr val="000000"/>
                </a:solidFill>
              </a:defRPr>
            </a:lvl2pPr>
            <a:lvl3pPr marL="1234438" indent="-320038">
              <a:spcBef>
                <a:spcPts val="6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</a:defRPr>
            </a:lvl3pPr>
            <a:lvl4pPr marL="1727200" indent="-355600">
              <a:spcBef>
                <a:spcPts val="600"/>
              </a:spcBef>
              <a:buSzPct val="100000"/>
              <a:buFont typeface="Arial"/>
              <a:buChar char="–"/>
              <a:defRPr sz="2800">
                <a:solidFill>
                  <a:srgbClr val="000000"/>
                </a:solidFill>
              </a:defRPr>
            </a:lvl4pPr>
            <a:lvl5pPr marL="2184400" indent="-355600">
              <a:spcBef>
                <a:spcPts val="600"/>
              </a:spcBef>
              <a:buSzPct val="100000"/>
              <a:buFont typeface="Arial"/>
              <a:buChar char="»"/>
              <a:defRPr sz="2800">
                <a:solidFill>
                  <a:srgbClr val="000000"/>
                </a:solidFill>
              </a:defRPr>
            </a:lvl5pPr>
          </a:lstStyle>
          <a:p>
            <a:pPr/>
            <a:r>
              <a:t>Gövde Düzeyi Bir</a:t>
            </a:r>
          </a:p>
          <a:p>
            <a:pPr lvl="1"/>
            <a:r>
              <a:t>Gövde Düzeyi İki</a:t>
            </a:r>
          </a:p>
          <a:p>
            <a:pPr lvl="2"/>
            <a:r>
              <a:t>Gövde Düzeyi Üç</a:t>
            </a:r>
          </a:p>
          <a:p>
            <a:pPr lvl="3"/>
            <a:r>
              <a:t>Gövde Düzeyi Dört</a:t>
            </a:r>
          </a:p>
          <a:p>
            <a:pPr lvl="4"/>
            <a:r>
              <a:t>Gövde Düzeyi Beş</a:t>
            </a:r>
          </a:p>
        </p:txBody>
      </p:sp>
      <p:sp>
        <p:nvSpPr>
          <p:cNvPr id="60" name="Slayt Numarası"/>
          <p:cNvSpPr txBox="1"/>
          <p:nvPr>
            <p:ph type="sldNum" sz="quarter" idx="2"/>
          </p:nvPr>
        </p:nvSpPr>
        <p:spPr>
          <a:xfrm>
            <a:off x="11680576" y="6538703"/>
            <a:ext cx="243143" cy="26923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6"/>
          <p:cNvSpPr txBox="1"/>
          <p:nvPr/>
        </p:nvSpPr>
        <p:spPr>
          <a:xfrm>
            <a:off x="247222" y="6566958"/>
            <a:ext cx="1518926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00009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r>
              <a:t>www.gtu.edu.tr</a:t>
            </a:r>
          </a:p>
        </p:txBody>
      </p:sp>
      <p:sp>
        <p:nvSpPr>
          <p:cNvPr id="68" name="Straight Connector 5"/>
          <p:cNvSpPr/>
          <p:nvPr/>
        </p:nvSpPr>
        <p:spPr>
          <a:xfrm>
            <a:off x="-2" y="1065462"/>
            <a:ext cx="12192004" cy="4"/>
          </a:xfrm>
          <a:prstGeom prst="line">
            <a:avLst/>
          </a:prstGeom>
          <a:ln w="25400">
            <a:solidFill>
              <a:srgbClr val="1A2A6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" name="Straight Connector 6"/>
          <p:cNvSpPr/>
          <p:nvPr/>
        </p:nvSpPr>
        <p:spPr>
          <a:xfrm>
            <a:off x="-2" y="1124726"/>
            <a:ext cx="12192004" cy="4"/>
          </a:xfrm>
          <a:prstGeom prst="line">
            <a:avLst/>
          </a:prstGeom>
          <a:ln w="25400">
            <a:solidFill>
              <a:srgbClr val="EE801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" name="Straight Connector 7"/>
          <p:cNvSpPr/>
          <p:nvPr/>
        </p:nvSpPr>
        <p:spPr>
          <a:xfrm>
            <a:off x="-2" y="1192455"/>
            <a:ext cx="12192004" cy="4"/>
          </a:xfrm>
          <a:prstGeom prst="line">
            <a:avLst/>
          </a:prstGeom>
          <a:ln w="25400">
            <a:solidFill>
              <a:srgbClr val="C1203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71" name="Resim 9" descr="Resim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257904" y="130973"/>
            <a:ext cx="1737366" cy="822881"/>
          </a:xfrm>
          <a:prstGeom prst="rect">
            <a:avLst/>
          </a:prstGeom>
          <a:ln w="12700">
            <a:miter lim="400000"/>
          </a:ln>
        </p:spPr>
      </p:pic>
      <p:sp>
        <p:nvSpPr>
          <p:cNvPr id="72" name="Başlık Metni"/>
          <p:cNvSpPr txBox="1"/>
          <p:nvPr>
            <p:ph type="title"/>
          </p:nvPr>
        </p:nvSpPr>
        <p:spPr>
          <a:xfrm>
            <a:off x="286170" y="279400"/>
            <a:ext cx="9789164" cy="760667"/>
          </a:xfrm>
          <a:prstGeom prst="rect">
            <a:avLst/>
          </a:prstGeom>
        </p:spPr>
        <p:txBody>
          <a:bodyPr anchor="ctr"/>
          <a:lstStyle>
            <a:lvl1pPr>
              <a:defRPr b="0" cap="none" sz="4400"/>
            </a:lvl1pPr>
          </a:lstStyle>
          <a:p>
            <a:pPr/>
            <a:r>
              <a:t>Başlık Metni</a:t>
            </a:r>
          </a:p>
        </p:txBody>
      </p:sp>
      <p:sp>
        <p:nvSpPr>
          <p:cNvPr id="73" name="Gövde Düzeyi Bir…"/>
          <p:cNvSpPr txBox="1"/>
          <p:nvPr>
            <p:ph type="body" sz="quarter" idx="1"/>
          </p:nvPr>
        </p:nvSpPr>
        <p:spPr>
          <a:xfrm>
            <a:off x="609600" y="1535112"/>
            <a:ext cx="5386917" cy="639763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  <a:defRPr b="1" sz="2400">
                <a:solidFill>
                  <a:srgbClr val="000000"/>
                </a:solidFill>
              </a:defRPr>
            </a:lvl1pPr>
            <a:lvl2pPr>
              <a:spcBef>
                <a:spcPts val="500"/>
              </a:spcBef>
              <a:defRPr b="1" sz="2400">
                <a:solidFill>
                  <a:srgbClr val="000000"/>
                </a:solidFill>
              </a:defRPr>
            </a:lvl2pPr>
            <a:lvl3pPr>
              <a:spcBef>
                <a:spcPts val="500"/>
              </a:spcBef>
              <a:defRPr b="1" sz="2400">
                <a:solidFill>
                  <a:srgbClr val="000000"/>
                </a:solidFill>
              </a:defRPr>
            </a:lvl3pPr>
            <a:lvl4pPr>
              <a:spcBef>
                <a:spcPts val="500"/>
              </a:spcBef>
              <a:defRPr b="1" sz="2400">
                <a:solidFill>
                  <a:srgbClr val="000000"/>
                </a:solidFill>
              </a:defRPr>
            </a:lvl4pPr>
            <a:lvl5pPr>
              <a:spcBef>
                <a:spcPts val="500"/>
              </a:spcBef>
              <a:defRPr b="1" sz="2400">
                <a:solidFill>
                  <a:srgbClr val="000000"/>
                </a:solidFill>
              </a:defRPr>
            </a:lvl5pPr>
          </a:lstStyle>
          <a:p>
            <a:pPr/>
            <a:r>
              <a:t>Gövde Düzeyi Bir</a:t>
            </a:r>
          </a:p>
          <a:p>
            <a:pPr lvl="1"/>
            <a:r>
              <a:t>Gövde Düzeyi İki</a:t>
            </a:r>
          </a:p>
          <a:p>
            <a:pPr lvl="2"/>
            <a:r>
              <a:t>Gövde Düzeyi Üç</a:t>
            </a:r>
          </a:p>
          <a:p>
            <a:pPr lvl="3"/>
            <a:r>
              <a:t>Gövde Düzeyi Dört</a:t>
            </a:r>
          </a:p>
          <a:p>
            <a:pPr lvl="4"/>
            <a:r>
              <a:t>Gövde Düzeyi Beş</a:t>
            </a:r>
          </a:p>
        </p:txBody>
      </p:sp>
      <p:sp>
        <p:nvSpPr>
          <p:cNvPr id="74" name="Text Placeholder 4"/>
          <p:cNvSpPr/>
          <p:nvPr>
            <p:ph type="body" sz="quarter" idx="21"/>
          </p:nvPr>
        </p:nvSpPr>
        <p:spPr>
          <a:xfrm>
            <a:off x="6193366" y="1535111"/>
            <a:ext cx="5389039" cy="639767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layt Numarası"/>
          <p:cNvSpPr txBox="1"/>
          <p:nvPr>
            <p:ph type="sldNum" sz="quarter" idx="2"/>
          </p:nvPr>
        </p:nvSpPr>
        <p:spPr>
          <a:xfrm>
            <a:off x="11680576" y="6538703"/>
            <a:ext cx="243143" cy="26923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Box 6"/>
          <p:cNvSpPr txBox="1"/>
          <p:nvPr/>
        </p:nvSpPr>
        <p:spPr>
          <a:xfrm>
            <a:off x="247222" y="6566958"/>
            <a:ext cx="1518926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00009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r>
              <a:t>www.gtu.edu.tr</a:t>
            </a:r>
          </a:p>
        </p:txBody>
      </p:sp>
      <p:sp>
        <p:nvSpPr>
          <p:cNvPr id="83" name="Straight Connector 5"/>
          <p:cNvSpPr/>
          <p:nvPr/>
        </p:nvSpPr>
        <p:spPr>
          <a:xfrm>
            <a:off x="-2" y="1065462"/>
            <a:ext cx="12192004" cy="4"/>
          </a:xfrm>
          <a:prstGeom prst="line">
            <a:avLst/>
          </a:prstGeom>
          <a:ln w="25400">
            <a:solidFill>
              <a:srgbClr val="1A2A6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" name="Straight Connector 6"/>
          <p:cNvSpPr/>
          <p:nvPr/>
        </p:nvSpPr>
        <p:spPr>
          <a:xfrm>
            <a:off x="-2" y="1124726"/>
            <a:ext cx="12192004" cy="4"/>
          </a:xfrm>
          <a:prstGeom prst="line">
            <a:avLst/>
          </a:prstGeom>
          <a:ln w="25400">
            <a:solidFill>
              <a:srgbClr val="EE801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" name="Straight Connector 7"/>
          <p:cNvSpPr/>
          <p:nvPr/>
        </p:nvSpPr>
        <p:spPr>
          <a:xfrm>
            <a:off x="-2" y="1192455"/>
            <a:ext cx="12192004" cy="4"/>
          </a:xfrm>
          <a:prstGeom prst="line">
            <a:avLst/>
          </a:prstGeom>
          <a:ln w="25400">
            <a:solidFill>
              <a:srgbClr val="C1203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86" name="Resim 9" descr="Resim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257904" y="130973"/>
            <a:ext cx="1737366" cy="822881"/>
          </a:xfrm>
          <a:prstGeom prst="rect">
            <a:avLst/>
          </a:prstGeom>
          <a:ln w="12700">
            <a:miter lim="400000"/>
          </a:ln>
        </p:spPr>
      </p:pic>
      <p:sp>
        <p:nvSpPr>
          <p:cNvPr id="87" name="Başlık Metni"/>
          <p:cNvSpPr txBox="1"/>
          <p:nvPr>
            <p:ph type="title"/>
          </p:nvPr>
        </p:nvSpPr>
        <p:spPr>
          <a:xfrm>
            <a:off x="286170" y="279400"/>
            <a:ext cx="9789164" cy="760667"/>
          </a:xfrm>
          <a:prstGeom prst="rect">
            <a:avLst/>
          </a:prstGeom>
        </p:spPr>
        <p:txBody>
          <a:bodyPr anchor="ctr"/>
          <a:lstStyle>
            <a:lvl1pPr>
              <a:defRPr b="0" cap="none" sz="4400"/>
            </a:lvl1pPr>
          </a:lstStyle>
          <a:p>
            <a:pPr/>
            <a:r>
              <a:t>Başlık Metni</a:t>
            </a:r>
          </a:p>
        </p:txBody>
      </p:sp>
      <p:sp>
        <p:nvSpPr>
          <p:cNvPr id="88" name="Slayt Numarası"/>
          <p:cNvSpPr txBox="1"/>
          <p:nvPr>
            <p:ph type="sldNum" sz="quarter" idx="2"/>
          </p:nvPr>
        </p:nvSpPr>
        <p:spPr>
          <a:xfrm>
            <a:off x="11680576" y="6538703"/>
            <a:ext cx="243143" cy="26923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Box 6"/>
          <p:cNvSpPr txBox="1"/>
          <p:nvPr/>
        </p:nvSpPr>
        <p:spPr>
          <a:xfrm>
            <a:off x="247222" y="6566958"/>
            <a:ext cx="1518926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00009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r>
              <a:t>www.gtu.edu.tr</a:t>
            </a:r>
          </a:p>
        </p:txBody>
      </p:sp>
      <p:sp>
        <p:nvSpPr>
          <p:cNvPr id="96" name="Straight Connector 4"/>
          <p:cNvSpPr/>
          <p:nvPr/>
        </p:nvSpPr>
        <p:spPr>
          <a:xfrm flipV="1">
            <a:off x="11940647" y="-1"/>
            <a:ext cx="4" cy="6855885"/>
          </a:xfrm>
          <a:prstGeom prst="line">
            <a:avLst/>
          </a:prstGeom>
          <a:ln w="25400">
            <a:solidFill>
              <a:srgbClr val="1A2A6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" name="Straight Connector 5"/>
          <p:cNvSpPr/>
          <p:nvPr/>
        </p:nvSpPr>
        <p:spPr>
          <a:xfrm flipV="1">
            <a:off x="11991447" y="-1"/>
            <a:ext cx="4" cy="6855885"/>
          </a:xfrm>
          <a:prstGeom prst="line">
            <a:avLst/>
          </a:prstGeom>
          <a:ln w="25400">
            <a:solidFill>
              <a:srgbClr val="EE801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" name="Straight Connector 6"/>
          <p:cNvSpPr/>
          <p:nvPr/>
        </p:nvSpPr>
        <p:spPr>
          <a:xfrm flipV="1">
            <a:off x="12042247" y="0"/>
            <a:ext cx="4" cy="6855885"/>
          </a:xfrm>
          <a:prstGeom prst="line">
            <a:avLst/>
          </a:prstGeom>
          <a:ln w="25400">
            <a:solidFill>
              <a:srgbClr val="C1203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99" name="Resim 8" descr="Resim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099964" y="139285"/>
            <a:ext cx="1737366" cy="822881"/>
          </a:xfrm>
          <a:prstGeom prst="rect">
            <a:avLst/>
          </a:prstGeom>
          <a:ln w="12700">
            <a:miter lim="400000"/>
          </a:ln>
        </p:spPr>
      </p:pic>
      <p:sp>
        <p:nvSpPr>
          <p:cNvPr id="100" name="Slayt Numarası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Box 6"/>
          <p:cNvSpPr txBox="1"/>
          <p:nvPr/>
        </p:nvSpPr>
        <p:spPr>
          <a:xfrm>
            <a:off x="247222" y="6566958"/>
            <a:ext cx="1518926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00009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r>
              <a:t>www.gtu.edu.tr</a:t>
            </a:r>
          </a:p>
        </p:txBody>
      </p:sp>
      <p:sp>
        <p:nvSpPr>
          <p:cNvPr id="108" name="Başlık Metni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>
              <a:defRPr cap="none" sz="2000"/>
            </a:lvl1pPr>
          </a:lstStyle>
          <a:p>
            <a:pPr/>
            <a:r>
              <a:t>Başlık Metni</a:t>
            </a:r>
          </a:p>
        </p:txBody>
      </p:sp>
      <p:sp>
        <p:nvSpPr>
          <p:cNvPr id="109" name="Gövde Düzeyi Bir…"/>
          <p:cNvSpPr txBox="1"/>
          <p:nvPr>
            <p:ph type="body" idx="1"/>
          </p:nvPr>
        </p:nvSpPr>
        <p:spPr>
          <a:xfrm>
            <a:off x="4766733" y="273050"/>
            <a:ext cx="6815667" cy="5853115"/>
          </a:xfrm>
          <a:prstGeom prst="rect">
            <a:avLst/>
          </a:prstGeom>
        </p:spPr>
        <p:txBody>
          <a:bodyPr anchor="t"/>
          <a:lstStyle>
            <a:lvl1pPr marL="342900" indent="-342900">
              <a:spcBef>
                <a:spcPts val="700"/>
              </a:spcBef>
              <a:buSzPct val="100000"/>
              <a:buFont typeface="Arial"/>
              <a:buChar char="•"/>
              <a:defRPr sz="3200">
                <a:solidFill>
                  <a:srgbClr val="000000"/>
                </a:solidFill>
              </a:defRPr>
            </a:lvl1pPr>
            <a:lvl2pPr marL="783771" indent="-326571">
              <a:spcBef>
                <a:spcPts val="700"/>
              </a:spcBef>
              <a:buSzPct val="100000"/>
              <a:buFont typeface="Arial"/>
              <a:buChar char="–"/>
              <a:defRPr sz="3200">
                <a:solidFill>
                  <a:srgbClr val="000000"/>
                </a:solidFill>
              </a:defRPr>
            </a:lvl2pPr>
            <a:lvl3pPr marL="1219200" indent="-304800">
              <a:spcBef>
                <a:spcPts val="700"/>
              </a:spcBef>
              <a:buSzPct val="100000"/>
              <a:buFont typeface="Arial"/>
              <a:buChar char="•"/>
              <a:defRPr sz="3200">
                <a:solidFill>
                  <a:srgbClr val="000000"/>
                </a:solidFill>
              </a:defRPr>
            </a:lvl3pPr>
            <a:lvl4pPr marL="1737360" indent="-365760">
              <a:spcBef>
                <a:spcPts val="700"/>
              </a:spcBef>
              <a:buSzPct val="100000"/>
              <a:buFont typeface="Arial"/>
              <a:buChar char="–"/>
              <a:defRPr sz="3200">
                <a:solidFill>
                  <a:srgbClr val="000000"/>
                </a:solidFill>
              </a:defRPr>
            </a:lvl4pPr>
            <a:lvl5pPr marL="2194560" indent="-365760">
              <a:spcBef>
                <a:spcPts val="700"/>
              </a:spcBef>
              <a:buSzPct val="100000"/>
              <a:buFont typeface="Arial"/>
              <a:buChar char="»"/>
              <a:defRPr sz="3200">
                <a:solidFill>
                  <a:srgbClr val="000000"/>
                </a:solidFill>
              </a:defRPr>
            </a:lvl5pPr>
          </a:lstStyle>
          <a:p>
            <a:pPr/>
            <a:r>
              <a:t>Gövde Düzeyi Bir</a:t>
            </a:r>
          </a:p>
          <a:p>
            <a:pPr lvl="1"/>
            <a:r>
              <a:t>Gövde Düzeyi İki</a:t>
            </a:r>
          </a:p>
          <a:p>
            <a:pPr lvl="2"/>
            <a:r>
              <a:t>Gövde Düzeyi Üç</a:t>
            </a:r>
          </a:p>
          <a:p>
            <a:pPr lvl="3"/>
            <a:r>
              <a:t>Gövde Düzeyi Dört</a:t>
            </a:r>
          </a:p>
          <a:p>
            <a:pPr lvl="4"/>
            <a:r>
              <a:t>Gövde Düzeyi Beş</a:t>
            </a:r>
          </a:p>
        </p:txBody>
      </p:sp>
      <p:sp>
        <p:nvSpPr>
          <p:cNvPr id="110" name="Text Placeholder 3"/>
          <p:cNvSpPr/>
          <p:nvPr>
            <p:ph type="body" sz="quarter" idx="21"/>
          </p:nvPr>
        </p:nvSpPr>
        <p:spPr>
          <a:xfrm>
            <a:off x="609599" y="1435097"/>
            <a:ext cx="4011087" cy="4140206"/>
          </a:xfrm>
          <a:prstGeom prst="rect">
            <a:avLst/>
          </a:prstGeom>
        </p:spPr>
        <p:txBody>
          <a:bodyPr anchor="t"/>
          <a:lstStyle/>
          <a:p>
            <a:pPr/>
          </a:p>
        </p:txBody>
      </p:sp>
      <p:pic>
        <p:nvPicPr>
          <p:cNvPr id="111" name="Resim 8" descr="Resim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41774" y="5647282"/>
            <a:ext cx="1737363" cy="822884"/>
          </a:xfrm>
          <a:prstGeom prst="rect">
            <a:avLst/>
          </a:prstGeom>
          <a:ln w="12700">
            <a:miter lim="400000"/>
          </a:ln>
        </p:spPr>
      </p:pic>
      <p:sp>
        <p:nvSpPr>
          <p:cNvPr id="112" name="Slayt Numarası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Box 6"/>
          <p:cNvSpPr txBox="1"/>
          <p:nvPr/>
        </p:nvSpPr>
        <p:spPr>
          <a:xfrm>
            <a:off x="247222" y="6566958"/>
            <a:ext cx="1518926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00009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r>
              <a:t>www.gtu.edu.tr</a:t>
            </a:r>
          </a:p>
        </p:txBody>
      </p:sp>
      <p:sp>
        <p:nvSpPr>
          <p:cNvPr id="120" name="Başlık Metni"/>
          <p:cNvSpPr txBox="1"/>
          <p:nvPr>
            <p:ph type="title"/>
          </p:nvPr>
        </p:nvSpPr>
        <p:spPr>
          <a:xfrm>
            <a:off x="2389714" y="4800600"/>
            <a:ext cx="7315204" cy="566738"/>
          </a:xfrm>
          <a:prstGeom prst="rect">
            <a:avLst/>
          </a:prstGeom>
        </p:spPr>
        <p:txBody>
          <a:bodyPr anchor="b"/>
          <a:lstStyle>
            <a:lvl1pPr>
              <a:defRPr cap="none" sz="2000"/>
            </a:lvl1pPr>
          </a:lstStyle>
          <a:p>
            <a:pPr/>
            <a:r>
              <a:t>Başlık Metni</a:t>
            </a:r>
          </a:p>
        </p:txBody>
      </p:sp>
      <p:sp>
        <p:nvSpPr>
          <p:cNvPr id="121" name="Picture Placeholder 2"/>
          <p:cNvSpPr/>
          <p:nvPr>
            <p:ph type="pic" sz="half" idx="21"/>
          </p:nvPr>
        </p:nvSpPr>
        <p:spPr>
          <a:xfrm>
            <a:off x="2389714" y="612775"/>
            <a:ext cx="7315204" cy="41148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22" name="Gövde Düzeyi Bir…"/>
          <p:cNvSpPr txBox="1"/>
          <p:nvPr>
            <p:ph type="body" sz="quarter" idx="1"/>
          </p:nvPr>
        </p:nvSpPr>
        <p:spPr>
          <a:xfrm>
            <a:off x="2389714" y="5367337"/>
            <a:ext cx="7315204" cy="804866"/>
          </a:xfrm>
          <a:prstGeom prst="rect">
            <a:avLst/>
          </a:prstGeom>
        </p:spPr>
        <p:txBody>
          <a:bodyPr anchor="t"/>
          <a:lstStyle>
            <a:lvl1pPr>
              <a:spcBef>
                <a:spcPts val="300"/>
              </a:spcBef>
              <a:defRPr sz="1400">
                <a:solidFill>
                  <a:srgbClr val="000000"/>
                </a:solidFill>
              </a:defRPr>
            </a:lvl1pPr>
            <a:lvl2pPr>
              <a:spcBef>
                <a:spcPts val="300"/>
              </a:spcBef>
              <a:defRPr sz="1400">
                <a:solidFill>
                  <a:srgbClr val="000000"/>
                </a:solidFill>
              </a:defRPr>
            </a:lvl2pPr>
            <a:lvl3pPr>
              <a:spcBef>
                <a:spcPts val="300"/>
              </a:spcBef>
              <a:defRPr sz="1400">
                <a:solidFill>
                  <a:srgbClr val="000000"/>
                </a:solidFill>
              </a:defRPr>
            </a:lvl3pPr>
            <a:lvl4pPr>
              <a:spcBef>
                <a:spcPts val="300"/>
              </a:spcBef>
              <a:defRPr sz="1400">
                <a:solidFill>
                  <a:srgbClr val="000000"/>
                </a:solidFill>
              </a:defRPr>
            </a:lvl4pPr>
            <a:lvl5pPr>
              <a:spcBef>
                <a:spcPts val="300"/>
              </a:spcBef>
              <a:defRPr sz="1400">
                <a:solidFill>
                  <a:srgbClr val="000000"/>
                </a:solidFill>
              </a:defRPr>
            </a:lvl5pPr>
          </a:lstStyle>
          <a:p>
            <a:pPr/>
            <a:r>
              <a:t>Gövde Düzeyi Bir</a:t>
            </a:r>
          </a:p>
          <a:p>
            <a:pPr lvl="1"/>
            <a:r>
              <a:t>Gövde Düzeyi İki</a:t>
            </a:r>
          </a:p>
          <a:p>
            <a:pPr lvl="2"/>
            <a:r>
              <a:t>Gövde Düzeyi Üç</a:t>
            </a:r>
          </a:p>
          <a:p>
            <a:pPr lvl="3"/>
            <a:r>
              <a:t>Gövde Düzeyi Dört</a:t>
            </a:r>
          </a:p>
          <a:p>
            <a:pPr lvl="4"/>
            <a:r>
              <a:t>Gövde Düzeyi Beş</a:t>
            </a:r>
          </a:p>
        </p:txBody>
      </p:sp>
      <p:pic>
        <p:nvPicPr>
          <p:cNvPr id="123" name="Resim 8" descr="Resim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108278" y="139285"/>
            <a:ext cx="1737366" cy="822881"/>
          </a:xfrm>
          <a:prstGeom prst="rect">
            <a:avLst/>
          </a:prstGeom>
          <a:ln w="12700">
            <a:miter lim="400000"/>
          </a:ln>
        </p:spPr>
      </p:pic>
      <p:sp>
        <p:nvSpPr>
          <p:cNvPr id="124" name="Slayt Numarası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/>
          <p:cNvSpPr txBox="1"/>
          <p:nvPr/>
        </p:nvSpPr>
        <p:spPr>
          <a:xfrm>
            <a:off x="247222" y="6566958"/>
            <a:ext cx="1518926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00009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r>
              <a:t>www.gtu.edu.tr</a:t>
            </a:r>
          </a:p>
        </p:txBody>
      </p:sp>
      <p:sp>
        <p:nvSpPr>
          <p:cNvPr id="3" name="Straight Connector 6"/>
          <p:cNvSpPr/>
          <p:nvPr/>
        </p:nvSpPr>
        <p:spPr>
          <a:xfrm>
            <a:off x="-2" y="6094662"/>
            <a:ext cx="12192005" cy="4"/>
          </a:xfrm>
          <a:prstGeom prst="line">
            <a:avLst/>
          </a:prstGeom>
          <a:ln w="25400">
            <a:solidFill>
              <a:srgbClr val="1A2A6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" name="Straight Connector 7"/>
          <p:cNvSpPr/>
          <p:nvPr/>
        </p:nvSpPr>
        <p:spPr>
          <a:xfrm>
            <a:off x="-2" y="6153925"/>
            <a:ext cx="12192005" cy="4"/>
          </a:xfrm>
          <a:prstGeom prst="line">
            <a:avLst/>
          </a:prstGeom>
          <a:ln w="25400">
            <a:solidFill>
              <a:srgbClr val="EE801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" name="Straight Connector 8"/>
          <p:cNvSpPr/>
          <p:nvPr/>
        </p:nvSpPr>
        <p:spPr>
          <a:xfrm>
            <a:off x="-2" y="6221655"/>
            <a:ext cx="12192005" cy="4"/>
          </a:xfrm>
          <a:prstGeom prst="line">
            <a:avLst/>
          </a:prstGeom>
          <a:ln w="25400">
            <a:solidFill>
              <a:srgbClr val="C1203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6" name="Resim 10" descr="Resim 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257904" y="130973"/>
            <a:ext cx="1737366" cy="822881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Başlık Metni"/>
          <p:cNvSpPr txBox="1"/>
          <p:nvPr>
            <p:ph type="title"/>
          </p:nvPr>
        </p:nvSpPr>
        <p:spPr>
          <a:xfrm>
            <a:off x="963084" y="4406901"/>
            <a:ext cx="10363201" cy="13620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Başlık Metni</a:t>
            </a:r>
          </a:p>
        </p:txBody>
      </p:sp>
      <p:sp>
        <p:nvSpPr>
          <p:cNvPr id="8" name="Gövde Düzeyi Bir…"/>
          <p:cNvSpPr txBox="1"/>
          <p:nvPr>
            <p:ph type="body" idx="1"/>
          </p:nvPr>
        </p:nvSpPr>
        <p:spPr>
          <a:xfrm>
            <a:off x="963084" y="2906713"/>
            <a:ext cx="10363201" cy="1500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b">
            <a:normAutofit fontScale="100000" lnSpcReduction="0"/>
          </a:bodyPr>
          <a:lstStyle/>
          <a:p>
            <a:pPr/>
            <a:r>
              <a:t>Gövde Düzeyi Bir</a:t>
            </a:r>
          </a:p>
          <a:p>
            <a:pPr lvl="1"/>
            <a:r>
              <a:t>Gövde Düzeyi İki</a:t>
            </a:r>
          </a:p>
          <a:p>
            <a:pPr lvl="2"/>
            <a:r>
              <a:t>Gövde Düzeyi Üç</a:t>
            </a:r>
          </a:p>
          <a:p>
            <a:pPr lvl="3"/>
            <a:r>
              <a:t>Gövde Düzeyi Dört</a:t>
            </a:r>
          </a:p>
          <a:p>
            <a:pPr lvl="4"/>
            <a:r>
              <a:t>Gövde Düzeyi Beş</a:t>
            </a:r>
          </a:p>
        </p:txBody>
      </p:sp>
      <p:sp>
        <p:nvSpPr>
          <p:cNvPr id="9" name="Slayt Numarası"/>
          <p:cNvSpPr txBox="1"/>
          <p:nvPr>
            <p:ph type="sldNum" sz="quarter" idx="2"/>
          </p:nvPr>
        </p:nvSpPr>
        <p:spPr>
          <a:xfrm>
            <a:off x="11680576" y="6538703"/>
            <a:ext cx="243142" cy="269237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</p:sldLayoutIdLst>
  <p:transition xmlns:p14="http://schemas.microsoft.com/office/powerpoint/2010/main" spd="med" advClick="1"/>
  <p:txStyles>
    <p:titleStyle>
      <a:lvl1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all" i="0" spc="0" strike="noStrike" sz="4000" u="none">
          <a:solidFill>
            <a:srgbClr val="000000"/>
          </a:solidFill>
          <a:uFillTx/>
          <a:latin typeface="Arial Narrow"/>
          <a:ea typeface="Arial Narrow"/>
          <a:cs typeface="Arial Narrow"/>
          <a:sym typeface="Arial Narrow"/>
        </a:defRPr>
      </a:lvl1pPr>
      <a:lvl2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all" i="0" spc="0" strike="noStrike" sz="4000" u="none">
          <a:solidFill>
            <a:srgbClr val="000000"/>
          </a:solidFill>
          <a:uFillTx/>
          <a:latin typeface="Arial Narrow"/>
          <a:ea typeface="Arial Narrow"/>
          <a:cs typeface="Arial Narrow"/>
          <a:sym typeface="Arial Narrow"/>
        </a:defRPr>
      </a:lvl2pPr>
      <a:lvl3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all" i="0" spc="0" strike="noStrike" sz="4000" u="none">
          <a:solidFill>
            <a:srgbClr val="000000"/>
          </a:solidFill>
          <a:uFillTx/>
          <a:latin typeface="Arial Narrow"/>
          <a:ea typeface="Arial Narrow"/>
          <a:cs typeface="Arial Narrow"/>
          <a:sym typeface="Arial Narrow"/>
        </a:defRPr>
      </a:lvl3pPr>
      <a:lvl4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all" i="0" spc="0" strike="noStrike" sz="4000" u="none">
          <a:solidFill>
            <a:srgbClr val="000000"/>
          </a:solidFill>
          <a:uFillTx/>
          <a:latin typeface="Arial Narrow"/>
          <a:ea typeface="Arial Narrow"/>
          <a:cs typeface="Arial Narrow"/>
          <a:sym typeface="Arial Narrow"/>
        </a:defRPr>
      </a:lvl4pPr>
      <a:lvl5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all" i="0" spc="0" strike="noStrike" sz="4000" u="none">
          <a:solidFill>
            <a:srgbClr val="000000"/>
          </a:solidFill>
          <a:uFillTx/>
          <a:latin typeface="Arial Narrow"/>
          <a:ea typeface="Arial Narrow"/>
          <a:cs typeface="Arial Narrow"/>
          <a:sym typeface="Arial Narrow"/>
        </a:defRPr>
      </a:lvl5pPr>
      <a:lvl6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all" i="0" spc="0" strike="noStrike" sz="4000" u="none">
          <a:solidFill>
            <a:srgbClr val="000000"/>
          </a:solidFill>
          <a:uFillTx/>
          <a:latin typeface="Arial Narrow"/>
          <a:ea typeface="Arial Narrow"/>
          <a:cs typeface="Arial Narrow"/>
          <a:sym typeface="Arial Narrow"/>
        </a:defRPr>
      </a:lvl6pPr>
      <a:lvl7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all" i="0" spc="0" strike="noStrike" sz="4000" u="none">
          <a:solidFill>
            <a:srgbClr val="000000"/>
          </a:solidFill>
          <a:uFillTx/>
          <a:latin typeface="Arial Narrow"/>
          <a:ea typeface="Arial Narrow"/>
          <a:cs typeface="Arial Narrow"/>
          <a:sym typeface="Arial Narrow"/>
        </a:defRPr>
      </a:lvl7pPr>
      <a:lvl8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all" i="0" spc="0" strike="noStrike" sz="4000" u="none">
          <a:solidFill>
            <a:srgbClr val="000000"/>
          </a:solidFill>
          <a:uFillTx/>
          <a:latin typeface="Arial Narrow"/>
          <a:ea typeface="Arial Narrow"/>
          <a:cs typeface="Arial Narrow"/>
          <a:sym typeface="Arial Narrow"/>
        </a:defRPr>
      </a:lvl8pPr>
      <a:lvl9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all" i="0" spc="0" strike="noStrike" sz="4000" u="none">
          <a:solidFill>
            <a:srgbClr val="000000"/>
          </a:solidFill>
          <a:uFillTx/>
          <a:latin typeface="Arial Narrow"/>
          <a:ea typeface="Arial Narrow"/>
          <a:cs typeface="Arial Narrow"/>
          <a:sym typeface="Arial Narrow"/>
        </a:defRPr>
      </a:lvl9pPr>
    </p:titleStyle>
    <p:bodyStyle>
      <a:lvl1pPr marL="0" marR="0" indent="0" algn="l" defTabSz="4572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rgbClr val="888888"/>
          </a:solidFill>
          <a:uFillTx/>
          <a:latin typeface="Arial Narrow"/>
          <a:ea typeface="Arial Narrow"/>
          <a:cs typeface="Arial Narrow"/>
          <a:sym typeface="Arial Narrow"/>
        </a:defRPr>
      </a:lvl1pPr>
      <a:lvl2pPr marL="0" marR="0" indent="0" algn="l" defTabSz="4572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rgbClr val="888888"/>
          </a:solidFill>
          <a:uFillTx/>
          <a:latin typeface="Arial Narrow"/>
          <a:ea typeface="Arial Narrow"/>
          <a:cs typeface="Arial Narrow"/>
          <a:sym typeface="Arial Narrow"/>
        </a:defRPr>
      </a:lvl2pPr>
      <a:lvl3pPr marL="0" marR="0" indent="0" algn="l" defTabSz="4572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rgbClr val="888888"/>
          </a:solidFill>
          <a:uFillTx/>
          <a:latin typeface="Arial Narrow"/>
          <a:ea typeface="Arial Narrow"/>
          <a:cs typeface="Arial Narrow"/>
          <a:sym typeface="Arial Narrow"/>
        </a:defRPr>
      </a:lvl3pPr>
      <a:lvl4pPr marL="0" marR="0" indent="0" algn="l" defTabSz="4572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rgbClr val="888888"/>
          </a:solidFill>
          <a:uFillTx/>
          <a:latin typeface="Arial Narrow"/>
          <a:ea typeface="Arial Narrow"/>
          <a:cs typeface="Arial Narrow"/>
          <a:sym typeface="Arial Narrow"/>
        </a:defRPr>
      </a:lvl4pPr>
      <a:lvl5pPr marL="0" marR="0" indent="0" algn="l" defTabSz="4572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rgbClr val="888888"/>
          </a:solidFill>
          <a:uFillTx/>
          <a:latin typeface="Arial Narrow"/>
          <a:ea typeface="Arial Narrow"/>
          <a:cs typeface="Arial Narrow"/>
          <a:sym typeface="Arial Narrow"/>
        </a:defRPr>
      </a:lvl5pPr>
      <a:lvl6pPr marL="2514600" marR="0" indent="-228600" algn="l" defTabSz="4572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000" u="none">
          <a:solidFill>
            <a:srgbClr val="888888"/>
          </a:solidFill>
          <a:uFillTx/>
          <a:latin typeface="Arial Narrow"/>
          <a:ea typeface="Arial Narrow"/>
          <a:cs typeface="Arial Narrow"/>
          <a:sym typeface="Arial Narrow"/>
        </a:defRPr>
      </a:lvl6pPr>
      <a:lvl7pPr marL="2971800" marR="0" indent="-228600" algn="l" defTabSz="4572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000" u="none">
          <a:solidFill>
            <a:srgbClr val="888888"/>
          </a:solidFill>
          <a:uFillTx/>
          <a:latin typeface="Arial Narrow"/>
          <a:ea typeface="Arial Narrow"/>
          <a:cs typeface="Arial Narrow"/>
          <a:sym typeface="Arial Narrow"/>
        </a:defRPr>
      </a:lvl7pPr>
      <a:lvl8pPr marL="3428998" marR="0" indent="-228599" algn="l" defTabSz="4572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000" u="none">
          <a:solidFill>
            <a:srgbClr val="888888"/>
          </a:solidFill>
          <a:uFillTx/>
          <a:latin typeface="Arial Narrow"/>
          <a:ea typeface="Arial Narrow"/>
          <a:cs typeface="Arial Narrow"/>
          <a:sym typeface="Arial Narrow"/>
        </a:defRPr>
      </a:lvl8pPr>
      <a:lvl9pPr marL="3886198" marR="0" indent="-228598" algn="l" defTabSz="4572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000" u="none">
          <a:solidFill>
            <a:srgbClr val="888888"/>
          </a:solidFill>
          <a:uFillTx/>
          <a:latin typeface="Arial Narrow"/>
          <a:ea typeface="Arial Narrow"/>
          <a:cs typeface="Arial Narrow"/>
          <a:sym typeface="Arial Narrow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 Narrow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 Narrow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 Narrow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 Narrow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 Narrow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 Narrow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 Narrow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 Narrow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 Narrow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itle 1"/>
          <p:cNvSpPr txBox="1"/>
          <p:nvPr>
            <p:ph type="ctrTitle"/>
          </p:nvPr>
        </p:nvSpPr>
        <p:spPr>
          <a:xfrm>
            <a:off x="2057400" y="2168525"/>
            <a:ext cx="7924800" cy="1679576"/>
          </a:xfrm>
          <a:prstGeom prst="rect">
            <a:avLst/>
          </a:prstGeom>
        </p:spPr>
        <p:txBody>
          <a:bodyPr/>
          <a:lstStyle/>
          <a:p>
            <a:pPr/>
            <a:r>
              <a:t>Prediction of Bus Arrival Times in Public Transportation</a:t>
            </a:r>
          </a:p>
        </p:txBody>
      </p:sp>
      <p:sp>
        <p:nvSpPr>
          <p:cNvPr id="134" name="Subtitle 2"/>
          <p:cNvSpPr txBox="1"/>
          <p:nvPr>
            <p:ph type="subTitle" sz="half" idx="1"/>
          </p:nvPr>
        </p:nvSpPr>
        <p:spPr>
          <a:xfrm>
            <a:off x="2844800" y="3653408"/>
            <a:ext cx="7137400" cy="2436674"/>
          </a:xfrm>
          <a:prstGeom prst="rect">
            <a:avLst/>
          </a:prstGeom>
        </p:spPr>
        <p:txBody>
          <a:bodyPr/>
          <a:lstStyle/>
          <a:p>
            <a:pPr defTabSz="411479">
              <a:lnSpc>
                <a:spcPct val="80000"/>
              </a:lnSpc>
              <a:spcBef>
                <a:spcPts val="400"/>
              </a:spcBef>
              <a:defRPr sz="1900"/>
            </a:pPr>
            <a:r>
              <a:t>CSE 496</a:t>
            </a:r>
          </a:p>
          <a:p>
            <a:pPr defTabSz="411479">
              <a:lnSpc>
                <a:spcPct val="80000"/>
              </a:lnSpc>
              <a:spcBef>
                <a:spcPts val="400"/>
              </a:spcBef>
              <a:defRPr sz="1900"/>
            </a:pPr>
            <a:r>
              <a:t>Third Presentation</a:t>
            </a:r>
          </a:p>
          <a:p>
            <a:pPr defTabSz="411479">
              <a:lnSpc>
                <a:spcPct val="80000"/>
              </a:lnSpc>
              <a:spcBef>
                <a:spcPts val="400"/>
              </a:spcBef>
              <a:defRPr sz="1900"/>
            </a:pPr>
          </a:p>
          <a:p>
            <a:pPr defTabSz="411479">
              <a:lnSpc>
                <a:spcPct val="80000"/>
              </a:lnSpc>
              <a:spcBef>
                <a:spcPts val="400"/>
              </a:spcBef>
              <a:defRPr sz="1900"/>
            </a:pPr>
            <a:r>
              <a:t>Ömer Faruk Koç</a:t>
            </a:r>
          </a:p>
          <a:p>
            <a:pPr defTabSz="411479">
              <a:lnSpc>
                <a:spcPct val="80000"/>
              </a:lnSpc>
              <a:spcBef>
                <a:spcPts val="400"/>
              </a:spcBef>
              <a:defRPr sz="1900"/>
            </a:pPr>
            <a:r>
              <a:t>Muhammed Bilal Türk</a:t>
            </a:r>
          </a:p>
          <a:p>
            <a:pPr defTabSz="411479">
              <a:lnSpc>
                <a:spcPct val="80000"/>
              </a:lnSpc>
              <a:spcBef>
                <a:spcPts val="400"/>
              </a:spcBef>
              <a:defRPr sz="1900"/>
            </a:pPr>
          </a:p>
          <a:p>
            <a:pPr defTabSz="411479">
              <a:lnSpc>
                <a:spcPct val="80000"/>
              </a:lnSpc>
              <a:spcBef>
                <a:spcPts val="400"/>
              </a:spcBef>
              <a:defRPr sz="1900"/>
            </a:pPr>
            <a:r>
              <a:t>Advisor: Didem Gözüpek</a:t>
            </a:r>
          </a:p>
          <a:p>
            <a:pPr defTabSz="411479">
              <a:lnSpc>
                <a:spcPct val="80000"/>
              </a:lnSpc>
              <a:spcBef>
                <a:spcPts val="400"/>
              </a:spcBef>
              <a:defRPr sz="1900"/>
            </a:pPr>
            <a:r>
              <a:t>June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Footer Placeholder 4"/>
          <p:cNvSpPr txBox="1"/>
          <p:nvPr/>
        </p:nvSpPr>
        <p:spPr>
          <a:xfrm>
            <a:off x="1722118" y="6538700"/>
            <a:ext cx="7901097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r>
              <a:t>CSE496 – First Presentation</a:t>
            </a:r>
          </a:p>
        </p:txBody>
      </p:sp>
      <p:sp>
        <p:nvSpPr>
          <p:cNvPr id="137" name="Title 1"/>
          <p:cNvSpPr txBox="1"/>
          <p:nvPr>
            <p:ph type="title"/>
          </p:nvPr>
        </p:nvSpPr>
        <p:spPr>
          <a:xfrm>
            <a:off x="286170" y="279399"/>
            <a:ext cx="9755297" cy="760669"/>
          </a:xfrm>
          <a:prstGeom prst="rect">
            <a:avLst/>
          </a:prstGeom>
        </p:spPr>
        <p:txBody>
          <a:bodyPr/>
          <a:lstStyle>
            <a:lvl1pPr>
              <a:defRPr sz="3900"/>
            </a:lvl1pPr>
          </a:lstStyle>
          <a:p>
            <a:pPr/>
            <a:r>
              <a:t>Contents</a:t>
            </a:r>
          </a:p>
        </p:txBody>
      </p:sp>
      <p:sp>
        <p:nvSpPr>
          <p:cNvPr id="138" name="Content Placeholder 2"/>
          <p:cNvSpPr txBox="1"/>
          <p:nvPr>
            <p:ph type="body" idx="1"/>
          </p:nvPr>
        </p:nvSpPr>
        <p:spPr>
          <a:xfrm>
            <a:off x="286167" y="1409700"/>
            <a:ext cx="11637551" cy="4991100"/>
          </a:xfrm>
          <a:prstGeom prst="rect">
            <a:avLst/>
          </a:prstGeom>
        </p:spPr>
        <p:txBody>
          <a:bodyPr/>
          <a:lstStyle/>
          <a:p>
            <a:pPr marL="222883" indent="-222883" defTabSz="297179">
              <a:spcBef>
                <a:spcPts val="400"/>
              </a:spcBef>
              <a:defRPr sz="2000"/>
            </a:pPr>
            <a:r>
              <a:t>Motivation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Problem Statement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System Pipeline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Data Collection 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Feature Engineering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Model Architecture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A/B Methodology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Results: Model Comparison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Results: Statistical Tests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Results: Condition-Based Analysis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Generalization Across Routes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Comparison With Reference Study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Methodological Findings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Conclusion &amp; Future Work</a:t>
            </a:r>
          </a:p>
        </p:txBody>
      </p:sp>
      <p:sp>
        <p:nvSpPr>
          <p:cNvPr id="139" name="Date Placeholder 3"/>
          <p:cNvSpPr txBox="1"/>
          <p:nvPr/>
        </p:nvSpPr>
        <p:spPr>
          <a:xfrm>
            <a:off x="9986536" y="6538700"/>
            <a:ext cx="965769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r>
              <a:t>9.03.2026</a:t>
            </a:r>
          </a:p>
        </p:txBody>
      </p:sp>
      <p:sp>
        <p:nvSpPr>
          <p:cNvPr id="140" name="Slide Number Placeholder 5"/>
          <p:cNvSpPr txBox="1"/>
          <p:nvPr>
            <p:ph type="sldNum" sz="quarter" idx="4294967295"/>
          </p:nvPr>
        </p:nvSpPr>
        <p:spPr>
          <a:xfrm>
            <a:off x="11750074" y="6538700"/>
            <a:ext cx="173639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Footer Placeholder 4"/>
          <p:cNvSpPr txBox="1"/>
          <p:nvPr/>
        </p:nvSpPr>
        <p:spPr>
          <a:xfrm>
            <a:off x="1722118" y="6538700"/>
            <a:ext cx="7901097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r>
              <a:t>CSE496 – Third Presentation</a:t>
            </a:r>
          </a:p>
        </p:txBody>
      </p:sp>
      <p:sp>
        <p:nvSpPr>
          <p:cNvPr id="143" name="Title 1"/>
          <p:cNvSpPr txBox="1"/>
          <p:nvPr>
            <p:ph type="title"/>
          </p:nvPr>
        </p:nvSpPr>
        <p:spPr>
          <a:xfrm>
            <a:off x="286170" y="279399"/>
            <a:ext cx="9755297" cy="760669"/>
          </a:xfrm>
          <a:prstGeom prst="rect">
            <a:avLst/>
          </a:prstGeom>
        </p:spPr>
        <p:txBody>
          <a:bodyPr/>
          <a:lstStyle>
            <a:lvl1pPr>
              <a:defRPr sz="3900"/>
            </a:lvl1pPr>
          </a:lstStyle>
          <a:p>
            <a:pPr/>
            <a:r>
              <a:t>Motivation</a:t>
            </a:r>
          </a:p>
        </p:txBody>
      </p:sp>
      <p:sp>
        <p:nvSpPr>
          <p:cNvPr id="144" name="Content Placeholder 2"/>
          <p:cNvSpPr txBox="1"/>
          <p:nvPr>
            <p:ph type="body" idx="1"/>
          </p:nvPr>
        </p:nvSpPr>
        <p:spPr>
          <a:xfrm>
            <a:off x="286167" y="1409700"/>
            <a:ext cx="11637551" cy="4991100"/>
          </a:xfrm>
          <a:prstGeom prst="rect">
            <a:avLst/>
          </a:prstGeom>
        </p:spPr>
        <p:txBody>
          <a:bodyPr/>
          <a:lstStyle/>
          <a:p>
            <a:pPr marL="222883" indent="-222883" defTabSz="297179">
              <a:spcBef>
                <a:spcPts val="400"/>
              </a:spcBef>
              <a:defRPr b="1" sz="2000"/>
            </a:pPr>
            <a:r>
              <a:t>Public transportation is the backbone of urban mobility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Uncertainty, not waiting time itself, is the dominant source of passenger frustration </a:t>
            </a:r>
            <a:r>
              <a:rPr i="1" sz="1600"/>
              <a:t>(Maister, The Psychology of Waiting Lines)</a:t>
            </a:r>
          </a:p>
          <a:p>
            <a:pPr marL="222883" indent="-222883" defTabSz="297179">
              <a:spcBef>
                <a:spcPts val="400"/>
              </a:spcBef>
              <a:defRPr b="1" sz="2000"/>
            </a:pPr>
            <a:r>
              <a:t>Izmir ESHOT: </a:t>
            </a:r>
            <a:r>
              <a:rPr b="0"/>
              <a:t>third-largest city in Turkey, extensive bus network</a:t>
            </a:r>
          </a:p>
          <a:p>
            <a:pPr marL="222883" indent="-222883" defTabSz="297179">
              <a:spcBef>
                <a:spcPts val="400"/>
              </a:spcBef>
              <a:defRPr b="1" sz="2000"/>
            </a:pPr>
            <a:r>
              <a:t>The gap: </a:t>
            </a:r>
            <a:r>
              <a:rPr b="0"/>
              <a:t>municipality exposes real-time positions via public API, but no GTFS-Realtime feed and no documented arrival-prediction model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This project fills that gap with a context-aware ML system</a:t>
            </a:r>
          </a:p>
        </p:txBody>
      </p:sp>
      <p:sp>
        <p:nvSpPr>
          <p:cNvPr id="145" name="Date Placeholder 3"/>
          <p:cNvSpPr txBox="1"/>
          <p:nvPr/>
        </p:nvSpPr>
        <p:spPr>
          <a:xfrm>
            <a:off x="9986536" y="6538700"/>
            <a:ext cx="965769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r>
              <a:t>June 2026</a:t>
            </a:r>
          </a:p>
        </p:txBody>
      </p:sp>
      <p:sp>
        <p:nvSpPr>
          <p:cNvPr id="146" name="Slide Number Placeholder 5"/>
          <p:cNvSpPr txBox="1"/>
          <p:nvPr>
            <p:ph type="sldNum" sz="quarter" idx="4294967295"/>
          </p:nvPr>
        </p:nvSpPr>
        <p:spPr>
          <a:xfrm>
            <a:off x="11750074" y="6538700"/>
            <a:ext cx="173639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Footer Placeholder 4"/>
          <p:cNvSpPr txBox="1"/>
          <p:nvPr/>
        </p:nvSpPr>
        <p:spPr>
          <a:xfrm>
            <a:off x="1722118" y="6538700"/>
            <a:ext cx="7901097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r>
              <a:t>CSE496 – Third Presentation</a:t>
            </a:r>
          </a:p>
        </p:txBody>
      </p:sp>
      <p:sp>
        <p:nvSpPr>
          <p:cNvPr id="149" name="Title 1"/>
          <p:cNvSpPr txBox="1"/>
          <p:nvPr>
            <p:ph type="title"/>
          </p:nvPr>
        </p:nvSpPr>
        <p:spPr>
          <a:xfrm>
            <a:off x="286170" y="279399"/>
            <a:ext cx="9755297" cy="760669"/>
          </a:xfrm>
          <a:prstGeom prst="rect">
            <a:avLst/>
          </a:prstGeom>
        </p:spPr>
        <p:txBody>
          <a:bodyPr/>
          <a:lstStyle>
            <a:lvl1pPr>
              <a:defRPr sz="3900"/>
            </a:lvl1pPr>
          </a:lstStyle>
          <a:p>
            <a:pPr/>
            <a:r>
              <a:t>Problem Statement</a:t>
            </a:r>
          </a:p>
        </p:txBody>
      </p:sp>
      <p:sp>
        <p:nvSpPr>
          <p:cNvPr id="150" name="Content Placeholder 2"/>
          <p:cNvSpPr txBox="1"/>
          <p:nvPr>
            <p:ph type="body" idx="1"/>
          </p:nvPr>
        </p:nvSpPr>
        <p:spPr>
          <a:xfrm>
            <a:off x="286167" y="1409700"/>
            <a:ext cx="11637551" cy="4991100"/>
          </a:xfrm>
          <a:prstGeom prst="rect">
            <a:avLst/>
          </a:prstGeom>
        </p:spPr>
        <p:txBody>
          <a:bodyPr/>
          <a:lstStyle/>
          <a:p>
            <a:pPr marL="222883" indent="-222883" defTabSz="297179">
              <a:spcBef>
                <a:spcPts val="400"/>
              </a:spcBef>
              <a:defRPr b="1" sz="2000"/>
            </a:pPr>
            <a:r>
              <a:t>Goal: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Predict when a bus will arrive at a passenger’s stop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Approach: predict travel time between consecutive stops and accumulate — segment predictions are the building block</a:t>
            </a:r>
          </a:p>
          <a:p>
            <a:pPr marL="222883" indent="-222883" defTabSz="297179">
              <a:spcBef>
                <a:spcPts val="400"/>
              </a:spcBef>
              <a:defRPr b="1" sz="2000"/>
            </a:pPr>
            <a:r>
              <a:t>Three challenges: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Travel times are highly variable — same route, same stop, different times of day can differ by 3x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GPS polling at coarse 30-second intervals — measurement floor on ground truth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Contextual features (e.g. weather) may behave as noise without sufficient data variation</a:t>
            </a:r>
          </a:p>
        </p:txBody>
      </p:sp>
      <p:sp>
        <p:nvSpPr>
          <p:cNvPr id="151" name="Date Placeholder 3"/>
          <p:cNvSpPr txBox="1"/>
          <p:nvPr/>
        </p:nvSpPr>
        <p:spPr>
          <a:xfrm>
            <a:off x="9986536" y="6538700"/>
            <a:ext cx="965769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r>
              <a:t>June 2026</a:t>
            </a:r>
          </a:p>
        </p:txBody>
      </p:sp>
      <p:sp>
        <p:nvSpPr>
          <p:cNvPr id="152" name="Slide Number Placeholder 5"/>
          <p:cNvSpPr txBox="1"/>
          <p:nvPr>
            <p:ph type="sldNum" sz="quarter" idx="4294967295"/>
          </p:nvPr>
        </p:nvSpPr>
        <p:spPr>
          <a:xfrm>
            <a:off x="11750074" y="6538700"/>
            <a:ext cx="173639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Footer Placeholder 4"/>
          <p:cNvSpPr txBox="1"/>
          <p:nvPr/>
        </p:nvSpPr>
        <p:spPr>
          <a:xfrm>
            <a:off x="1722118" y="6538700"/>
            <a:ext cx="7901097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r>
              <a:t>CSE496 – Third Presentation</a:t>
            </a:r>
          </a:p>
        </p:txBody>
      </p:sp>
      <p:sp>
        <p:nvSpPr>
          <p:cNvPr id="155" name="Title 1"/>
          <p:cNvSpPr txBox="1"/>
          <p:nvPr>
            <p:ph type="title"/>
          </p:nvPr>
        </p:nvSpPr>
        <p:spPr>
          <a:xfrm>
            <a:off x="286170" y="279399"/>
            <a:ext cx="9755297" cy="760669"/>
          </a:xfrm>
          <a:prstGeom prst="rect">
            <a:avLst/>
          </a:prstGeom>
        </p:spPr>
        <p:txBody>
          <a:bodyPr/>
          <a:lstStyle>
            <a:lvl1pPr>
              <a:defRPr sz="3900"/>
            </a:lvl1pPr>
          </a:lstStyle>
          <a:p>
            <a:pPr/>
            <a:r>
              <a:t>System Pipeline</a:t>
            </a:r>
          </a:p>
        </p:txBody>
      </p:sp>
      <p:sp>
        <p:nvSpPr>
          <p:cNvPr id="156" name="Content Placeholder 2"/>
          <p:cNvSpPr txBox="1"/>
          <p:nvPr>
            <p:ph type="body" sz="half" idx="1"/>
          </p:nvPr>
        </p:nvSpPr>
        <p:spPr>
          <a:xfrm>
            <a:off x="376287" y="1307428"/>
            <a:ext cx="5966807" cy="4991101"/>
          </a:xfrm>
          <a:prstGeom prst="rect">
            <a:avLst/>
          </a:prstGeom>
        </p:spPr>
        <p:txBody>
          <a:bodyPr/>
          <a:lstStyle/>
          <a:p>
            <a:pPr marL="222883" indent="-222883" defTabSz="297179">
              <a:spcBef>
                <a:spcPts val="400"/>
              </a:spcBef>
              <a:defRPr b="1" sz="1700"/>
            </a:pPr>
            <a:r>
              <a:t>5-stage modular pipeline:</a:t>
            </a:r>
          </a:p>
          <a:p>
            <a:pPr marL="222883" indent="-222883" defTabSz="297179">
              <a:spcBef>
                <a:spcPts val="400"/>
              </a:spcBef>
              <a:defRPr sz="1700"/>
            </a:pPr>
            <a:r>
              <a:t>1. Data Collection — real-time GPS, weather, traffic stored in SQLite</a:t>
            </a:r>
          </a:p>
          <a:p>
            <a:pPr marL="222883" indent="-222883" defTabSz="297179">
              <a:spcBef>
                <a:spcPts val="400"/>
              </a:spcBef>
              <a:defRPr sz="1700"/>
            </a:pPr>
            <a:r>
              <a:t>2. Trip &amp; Segment Extraction — group stop-arrival events into trips, compute travel times</a:t>
            </a:r>
          </a:p>
          <a:p>
            <a:pPr marL="222883" indent="-222883" defTabSz="297179">
              <a:spcBef>
                <a:spcPts val="400"/>
              </a:spcBef>
              <a:defRPr sz="1700"/>
            </a:pPr>
            <a:r>
              <a:t>3. Feature Engineering — enrich segments with temporal, spatial, schedule, historical, dwell features</a:t>
            </a:r>
          </a:p>
          <a:p>
            <a:pPr marL="222883" indent="-222883" defTabSz="297179">
              <a:spcBef>
                <a:spcPts val="400"/>
              </a:spcBef>
              <a:defRPr sz="1700"/>
            </a:pPr>
            <a:r>
              <a:t>4. Model Training — baselines, classical ML, deep learning</a:t>
            </a:r>
          </a:p>
          <a:p>
            <a:pPr marL="222883" indent="-222883" defTabSz="297179">
              <a:spcBef>
                <a:spcPts val="400"/>
              </a:spcBef>
              <a:defRPr sz="1700"/>
            </a:pPr>
            <a:r>
              <a:t>5. Evaluation — metrics, statistical tests, generalization</a:t>
            </a:r>
          </a:p>
        </p:txBody>
      </p:sp>
      <p:sp>
        <p:nvSpPr>
          <p:cNvPr id="157" name="Date Placeholder 3"/>
          <p:cNvSpPr txBox="1"/>
          <p:nvPr/>
        </p:nvSpPr>
        <p:spPr>
          <a:xfrm>
            <a:off x="9986536" y="6538700"/>
            <a:ext cx="965769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r>
              <a:t>June 2026</a:t>
            </a:r>
          </a:p>
        </p:txBody>
      </p:sp>
      <p:sp>
        <p:nvSpPr>
          <p:cNvPr id="158" name="Slide Number Placeholder 5"/>
          <p:cNvSpPr txBox="1"/>
          <p:nvPr>
            <p:ph type="sldNum" sz="quarter" idx="4294967295"/>
          </p:nvPr>
        </p:nvSpPr>
        <p:spPr>
          <a:xfrm>
            <a:off x="11750074" y="6538700"/>
            <a:ext cx="173639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161" name="Shape400"/>
          <p:cNvGrpSpPr/>
          <p:nvPr/>
        </p:nvGrpSpPr>
        <p:grpSpPr>
          <a:xfrm>
            <a:off x="6700000" y="1300000"/>
            <a:ext cx="4800001" cy="680001"/>
            <a:chOff x="0" y="0"/>
            <a:chExt cx="4800000" cy="680000"/>
          </a:xfrm>
        </p:grpSpPr>
        <p:sp>
          <p:nvSpPr>
            <p:cNvPr id="159" name="Yuvarlatılmış Dikdörtgen"/>
            <p:cNvSpPr/>
            <p:nvPr/>
          </p:nvSpPr>
          <p:spPr>
            <a:xfrm>
              <a:off x="0" y="0"/>
              <a:ext cx="4800001" cy="680001"/>
            </a:xfrm>
            <a:prstGeom prst="roundRect">
              <a:avLst>
                <a:gd name="adj" fmla="val 20000"/>
              </a:avLst>
            </a:prstGeom>
            <a:solidFill>
              <a:srgbClr val="2E6DA4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60" name="1. Data Collection"/>
            <p:cNvSpPr txBox="1"/>
            <p:nvPr/>
          </p:nvSpPr>
          <p:spPr>
            <a:xfrm>
              <a:off x="39833" y="201001"/>
              <a:ext cx="4720334" cy="277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5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/>
              <a:r>
                <a:t>1. Data Collection</a:t>
              </a:r>
            </a:p>
          </p:txBody>
        </p:sp>
      </p:grpSp>
      <p:sp>
        <p:nvSpPr>
          <p:cNvPr id="162" name="Arrow401"/>
          <p:cNvSpPr/>
          <p:nvPr/>
        </p:nvSpPr>
        <p:spPr>
          <a:xfrm>
            <a:off x="8950000" y="1990000"/>
            <a:ext cx="300001" cy="13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5400" y="10800"/>
                </a:lnTo>
                <a:lnTo>
                  <a:pt x="5400" y="0"/>
                </a:lnTo>
                <a:lnTo>
                  <a:pt x="16200" y="0"/>
                </a:lnTo>
                <a:lnTo>
                  <a:pt x="16200" y="10800"/>
                </a:lnTo>
                <a:lnTo>
                  <a:pt x="21600" y="1080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88888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grpSp>
        <p:nvGrpSpPr>
          <p:cNvPr id="165" name="Shape402"/>
          <p:cNvGrpSpPr/>
          <p:nvPr/>
        </p:nvGrpSpPr>
        <p:grpSpPr>
          <a:xfrm>
            <a:off x="6700000" y="2289999"/>
            <a:ext cx="4800001" cy="680001"/>
            <a:chOff x="0" y="0"/>
            <a:chExt cx="4800000" cy="680000"/>
          </a:xfrm>
        </p:grpSpPr>
        <p:sp>
          <p:nvSpPr>
            <p:cNvPr id="163" name="Yuvarlatılmış Dikdörtgen"/>
            <p:cNvSpPr/>
            <p:nvPr/>
          </p:nvSpPr>
          <p:spPr>
            <a:xfrm>
              <a:off x="0" y="0"/>
              <a:ext cx="4800001" cy="680001"/>
            </a:xfrm>
            <a:prstGeom prst="roundRect">
              <a:avLst>
                <a:gd name="adj" fmla="val 20000"/>
              </a:avLst>
            </a:prstGeom>
            <a:solidFill>
              <a:srgbClr val="2980B9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64" name="2. Trip &amp; Segment Extraction"/>
            <p:cNvSpPr txBox="1"/>
            <p:nvPr/>
          </p:nvSpPr>
          <p:spPr>
            <a:xfrm>
              <a:off x="39833" y="201001"/>
              <a:ext cx="4720334" cy="277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5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/>
              <a:r>
                <a:t>2. Trip &amp; Segment Extraction</a:t>
              </a:r>
            </a:p>
          </p:txBody>
        </p:sp>
      </p:grpSp>
      <p:sp>
        <p:nvSpPr>
          <p:cNvPr id="166" name="Arrow403"/>
          <p:cNvSpPr/>
          <p:nvPr/>
        </p:nvSpPr>
        <p:spPr>
          <a:xfrm>
            <a:off x="8950000" y="2980000"/>
            <a:ext cx="300001" cy="13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5400" y="10800"/>
                </a:lnTo>
                <a:lnTo>
                  <a:pt x="5400" y="0"/>
                </a:lnTo>
                <a:lnTo>
                  <a:pt x="16200" y="0"/>
                </a:lnTo>
                <a:lnTo>
                  <a:pt x="16200" y="10800"/>
                </a:lnTo>
                <a:lnTo>
                  <a:pt x="21600" y="1080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88888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grpSp>
        <p:nvGrpSpPr>
          <p:cNvPr id="169" name="Shape404"/>
          <p:cNvGrpSpPr/>
          <p:nvPr/>
        </p:nvGrpSpPr>
        <p:grpSpPr>
          <a:xfrm>
            <a:off x="6700000" y="3280000"/>
            <a:ext cx="4800001" cy="680001"/>
            <a:chOff x="0" y="0"/>
            <a:chExt cx="4800000" cy="680000"/>
          </a:xfrm>
        </p:grpSpPr>
        <p:sp>
          <p:nvSpPr>
            <p:cNvPr id="167" name="Yuvarlatılmış Dikdörtgen"/>
            <p:cNvSpPr/>
            <p:nvPr/>
          </p:nvSpPr>
          <p:spPr>
            <a:xfrm>
              <a:off x="0" y="0"/>
              <a:ext cx="4800001" cy="680001"/>
            </a:xfrm>
            <a:prstGeom prst="roundRect">
              <a:avLst>
                <a:gd name="adj" fmla="val 20000"/>
              </a:avLst>
            </a:prstGeom>
            <a:solidFill>
              <a:srgbClr val="1A6B8A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68" name="3. Feature Engineering"/>
            <p:cNvSpPr txBox="1"/>
            <p:nvPr/>
          </p:nvSpPr>
          <p:spPr>
            <a:xfrm>
              <a:off x="39833" y="201001"/>
              <a:ext cx="4720334" cy="277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5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/>
              <a:r>
                <a:t>3. Feature Engineering</a:t>
              </a:r>
            </a:p>
          </p:txBody>
        </p:sp>
      </p:grpSp>
      <p:sp>
        <p:nvSpPr>
          <p:cNvPr id="170" name="Arrow405"/>
          <p:cNvSpPr/>
          <p:nvPr/>
        </p:nvSpPr>
        <p:spPr>
          <a:xfrm>
            <a:off x="8950000" y="3969999"/>
            <a:ext cx="300001" cy="13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5400" y="10800"/>
                </a:lnTo>
                <a:lnTo>
                  <a:pt x="5400" y="0"/>
                </a:lnTo>
                <a:lnTo>
                  <a:pt x="16200" y="0"/>
                </a:lnTo>
                <a:lnTo>
                  <a:pt x="16200" y="10800"/>
                </a:lnTo>
                <a:lnTo>
                  <a:pt x="21600" y="1080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88888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grpSp>
        <p:nvGrpSpPr>
          <p:cNvPr id="173" name="Shape406"/>
          <p:cNvGrpSpPr/>
          <p:nvPr/>
        </p:nvGrpSpPr>
        <p:grpSpPr>
          <a:xfrm>
            <a:off x="6700000" y="4269999"/>
            <a:ext cx="4800001" cy="680001"/>
            <a:chOff x="0" y="0"/>
            <a:chExt cx="4800000" cy="680000"/>
          </a:xfrm>
        </p:grpSpPr>
        <p:sp>
          <p:nvSpPr>
            <p:cNvPr id="171" name="Yuvarlatılmış Dikdörtgen"/>
            <p:cNvSpPr/>
            <p:nvPr/>
          </p:nvSpPr>
          <p:spPr>
            <a:xfrm>
              <a:off x="0" y="0"/>
              <a:ext cx="4800001" cy="680001"/>
            </a:xfrm>
            <a:prstGeom prst="roundRect">
              <a:avLst>
                <a:gd name="adj" fmla="val 20000"/>
              </a:avLst>
            </a:prstGeom>
            <a:solidFill>
              <a:srgbClr val="16698A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72" name="4. Model Training"/>
            <p:cNvSpPr txBox="1"/>
            <p:nvPr/>
          </p:nvSpPr>
          <p:spPr>
            <a:xfrm>
              <a:off x="39833" y="201001"/>
              <a:ext cx="4720334" cy="277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5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/>
              <a:r>
                <a:t>4. Model Training</a:t>
              </a:r>
            </a:p>
          </p:txBody>
        </p:sp>
      </p:grpSp>
      <p:sp>
        <p:nvSpPr>
          <p:cNvPr id="174" name="Arrow407"/>
          <p:cNvSpPr/>
          <p:nvPr/>
        </p:nvSpPr>
        <p:spPr>
          <a:xfrm>
            <a:off x="8950000" y="4959999"/>
            <a:ext cx="300001" cy="13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5400" y="10800"/>
                </a:lnTo>
                <a:lnTo>
                  <a:pt x="5400" y="0"/>
                </a:lnTo>
                <a:lnTo>
                  <a:pt x="16200" y="0"/>
                </a:lnTo>
                <a:lnTo>
                  <a:pt x="16200" y="10800"/>
                </a:lnTo>
                <a:lnTo>
                  <a:pt x="21600" y="1080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88888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grpSp>
        <p:nvGrpSpPr>
          <p:cNvPr id="177" name="Shape408"/>
          <p:cNvGrpSpPr/>
          <p:nvPr/>
        </p:nvGrpSpPr>
        <p:grpSpPr>
          <a:xfrm>
            <a:off x="6700000" y="5259999"/>
            <a:ext cx="4800001" cy="680001"/>
            <a:chOff x="0" y="0"/>
            <a:chExt cx="4800000" cy="680000"/>
          </a:xfrm>
        </p:grpSpPr>
        <p:sp>
          <p:nvSpPr>
            <p:cNvPr id="175" name="Yuvarlatılmış Dikdörtgen"/>
            <p:cNvSpPr/>
            <p:nvPr/>
          </p:nvSpPr>
          <p:spPr>
            <a:xfrm>
              <a:off x="0" y="0"/>
              <a:ext cx="4800001" cy="680001"/>
            </a:xfrm>
            <a:prstGeom prst="roundRect">
              <a:avLst>
                <a:gd name="adj" fmla="val 20000"/>
              </a:avLst>
            </a:prstGeom>
            <a:solidFill>
              <a:srgbClr val="1A3A5C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76" name="5. Evaluation"/>
            <p:cNvSpPr txBox="1"/>
            <p:nvPr/>
          </p:nvSpPr>
          <p:spPr>
            <a:xfrm>
              <a:off x="39833" y="201001"/>
              <a:ext cx="4720334" cy="277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5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/>
              <a:r>
                <a:t>5. Evaluation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Footer Placeholder 4"/>
          <p:cNvSpPr txBox="1"/>
          <p:nvPr/>
        </p:nvSpPr>
        <p:spPr>
          <a:xfrm>
            <a:off x="1722118" y="6538700"/>
            <a:ext cx="7901097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r>
              <a:t>CSE496 – Third Presentation</a:t>
            </a:r>
          </a:p>
        </p:txBody>
      </p:sp>
      <p:sp>
        <p:nvSpPr>
          <p:cNvPr id="180" name="Title 1"/>
          <p:cNvSpPr txBox="1"/>
          <p:nvPr>
            <p:ph type="title"/>
          </p:nvPr>
        </p:nvSpPr>
        <p:spPr>
          <a:xfrm>
            <a:off x="286170" y="279399"/>
            <a:ext cx="9755297" cy="760669"/>
          </a:xfrm>
          <a:prstGeom prst="rect">
            <a:avLst/>
          </a:prstGeom>
        </p:spPr>
        <p:txBody>
          <a:bodyPr/>
          <a:lstStyle>
            <a:lvl1pPr>
              <a:defRPr sz="3900"/>
            </a:lvl1pPr>
          </a:lstStyle>
          <a:p>
            <a:pPr/>
            <a:r>
              <a:t>Data Collection</a:t>
            </a:r>
          </a:p>
        </p:txBody>
      </p:sp>
      <p:sp>
        <p:nvSpPr>
          <p:cNvPr id="181" name="Content Placeholder 2"/>
          <p:cNvSpPr txBox="1"/>
          <p:nvPr>
            <p:ph type="body" idx="1"/>
          </p:nvPr>
        </p:nvSpPr>
        <p:spPr>
          <a:xfrm>
            <a:off x="286167" y="1409700"/>
            <a:ext cx="11637551" cy="4991100"/>
          </a:xfrm>
          <a:prstGeom prst="rect">
            <a:avLst/>
          </a:prstGeom>
        </p:spPr>
        <p:txBody>
          <a:bodyPr/>
          <a:lstStyle/>
          <a:p>
            <a:pPr marL="222883" indent="-222883" defTabSz="297179">
              <a:spcBef>
                <a:spcPts val="400"/>
              </a:spcBef>
              <a:defRPr b="1" sz="2000"/>
            </a:pPr>
            <a:r>
              <a:t>Primary source: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Izmir open transit API, polled every 30 seconds — stop matching via Haversine distance (threshold: 150m)</a:t>
            </a:r>
          </a:p>
          <a:p>
            <a:pPr marL="222883" indent="-222883" defTabSz="297179">
              <a:spcBef>
                <a:spcPts val="400"/>
              </a:spcBef>
              <a:defRPr b="1" sz="2000"/>
            </a:pPr>
            <a:r>
              <a:t>Contextual sources: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Weather: OpenWeatherMap, hourly (temp, humidity, precipitation, wind, visibility)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Traffic: TomTom, every 20 min for route 502 (free tier limit)</a:t>
            </a:r>
          </a:p>
          <a:p>
            <a:pPr marL="222883" indent="-222883" defTabSz="297179">
              <a:spcBef>
                <a:spcPts val="400"/>
              </a:spcBef>
              <a:defRPr b="1" sz="2000"/>
            </a:pPr>
            <a:r>
              <a:t>Storage: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SQLite database, 5 tables: bus positions, stop arrivals, trip events, weather, traffic</a:t>
            </a:r>
          </a:p>
          <a:p>
            <a:pPr marL="222883" indent="-222883" defTabSz="297179">
              <a:spcBef>
                <a:spcPts val="400"/>
              </a:spcBef>
              <a:defRPr b="1" sz="2000"/>
            </a:pPr>
            <a:r>
              <a:t>Volume: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~4 million GPS records over 73 days across 3 routes — 81,000+ clean segments for route 502</a:t>
            </a:r>
          </a:p>
        </p:txBody>
      </p:sp>
      <p:sp>
        <p:nvSpPr>
          <p:cNvPr id="182" name="Date Placeholder 3"/>
          <p:cNvSpPr txBox="1"/>
          <p:nvPr/>
        </p:nvSpPr>
        <p:spPr>
          <a:xfrm>
            <a:off x="9986536" y="6538700"/>
            <a:ext cx="965769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r>
              <a:t>June 2026</a:t>
            </a:r>
          </a:p>
        </p:txBody>
      </p:sp>
      <p:sp>
        <p:nvSpPr>
          <p:cNvPr id="183" name="Slide Number Placeholder 5"/>
          <p:cNvSpPr txBox="1"/>
          <p:nvPr>
            <p:ph type="sldNum" sz="quarter" idx="4294967295"/>
          </p:nvPr>
        </p:nvSpPr>
        <p:spPr>
          <a:xfrm>
            <a:off x="11750074" y="6538700"/>
            <a:ext cx="173639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Footer Placeholder 4"/>
          <p:cNvSpPr txBox="1"/>
          <p:nvPr/>
        </p:nvSpPr>
        <p:spPr>
          <a:xfrm>
            <a:off x="1722118" y="6538700"/>
            <a:ext cx="7901097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r>
              <a:t>CSE496 – Third Presentation</a:t>
            </a:r>
          </a:p>
        </p:txBody>
      </p:sp>
      <p:sp>
        <p:nvSpPr>
          <p:cNvPr id="186" name="Title 1"/>
          <p:cNvSpPr txBox="1"/>
          <p:nvPr>
            <p:ph type="title"/>
          </p:nvPr>
        </p:nvSpPr>
        <p:spPr>
          <a:xfrm>
            <a:off x="286170" y="279399"/>
            <a:ext cx="9755297" cy="760669"/>
          </a:xfrm>
          <a:prstGeom prst="rect">
            <a:avLst/>
          </a:prstGeom>
        </p:spPr>
        <p:txBody>
          <a:bodyPr/>
          <a:lstStyle>
            <a:lvl1pPr>
              <a:defRPr sz="3900"/>
            </a:lvl1pPr>
          </a:lstStyle>
          <a:p>
            <a:pPr/>
            <a:r>
              <a:t>Feature Engineering</a:t>
            </a:r>
          </a:p>
        </p:txBody>
      </p:sp>
      <p:sp>
        <p:nvSpPr>
          <p:cNvPr id="187" name="Content Placeholder 2"/>
          <p:cNvSpPr txBox="1"/>
          <p:nvPr>
            <p:ph type="body" idx="1"/>
          </p:nvPr>
        </p:nvSpPr>
        <p:spPr>
          <a:xfrm>
            <a:off x="286167" y="1409700"/>
            <a:ext cx="11637551" cy="4991100"/>
          </a:xfrm>
          <a:prstGeom prst="rect">
            <a:avLst/>
          </a:prstGeom>
        </p:spPr>
        <p:txBody>
          <a:bodyPr/>
          <a:lstStyle/>
          <a:p>
            <a:pPr marL="222883" indent="-222883" defTabSz="297179">
              <a:spcBef>
                <a:spcPts val="400"/>
              </a:spcBef>
              <a:defRPr b="1" sz="2000"/>
            </a:pPr>
            <a:r>
              <a:t>Final feature set: 16 features (reduced from 29 via A/B)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Temporal: hour, day of week, weekend flag, cyclic encodings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Spatial: inter-stop distance, route progress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Schedule (GTFS): scheduled travel time, deviation from schedule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Lag / Deviation: previous segment time, cumulative deviation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Historical: per-stop median, previous segment speed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Dwell: dwell time at current and previous stop</a:t>
            </a:r>
          </a:p>
          <a:p>
            <a:pPr marL="222883" indent="-222883" defTabSz="297179">
              <a:spcBef>
                <a:spcPts val="400"/>
              </a:spcBef>
              <a:defRPr b="1" sz="2000"/>
            </a:pPr>
            <a:r>
              <a:t>Central design decision: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Schedule and dwell-time features as primary inputs — confirmed in results</a:t>
            </a:r>
          </a:p>
        </p:txBody>
      </p:sp>
      <p:sp>
        <p:nvSpPr>
          <p:cNvPr id="188" name="Date Placeholder 3"/>
          <p:cNvSpPr txBox="1"/>
          <p:nvPr/>
        </p:nvSpPr>
        <p:spPr>
          <a:xfrm>
            <a:off x="9986536" y="6538700"/>
            <a:ext cx="965769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r>
              <a:t>June 2026</a:t>
            </a:r>
          </a:p>
        </p:txBody>
      </p:sp>
      <p:sp>
        <p:nvSpPr>
          <p:cNvPr id="189" name="Slide Number Placeholder 5"/>
          <p:cNvSpPr txBox="1"/>
          <p:nvPr>
            <p:ph type="sldNum" sz="quarter" idx="4294967295"/>
          </p:nvPr>
        </p:nvSpPr>
        <p:spPr>
          <a:xfrm>
            <a:off x="11750074" y="6538700"/>
            <a:ext cx="173639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Footer Placeholder 4"/>
          <p:cNvSpPr txBox="1"/>
          <p:nvPr/>
        </p:nvSpPr>
        <p:spPr>
          <a:xfrm>
            <a:off x="1722118" y="6538700"/>
            <a:ext cx="7901097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r>
              <a:t>CSE496 – Third Presentation</a:t>
            </a:r>
          </a:p>
        </p:txBody>
      </p:sp>
      <p:sp>
        <p:nvSpPr>
          <p:cNvPr id="192" name="Title 1"/>
          <p:cNvSpPr txBox="1"/>
          <p:nvPr>
            <p:ph type="title"/>
          </p:nvPr>
        </p:nvSpPr>
        <p:spPr>
          <a:xfrm>
            <a:off x="286170" y="279399"/>
            <a:ext cx="9755297" cy="760669"/>
          </a:xfrm>
          <a:prstGeom prst="rect">
            <a:avLst/>
          </a:prstGeom>
        </p:spPr>
        <p:txBody>
          <a:bodyPr/>
          <a:lstStyle>
            <a:lvl1pPr>
              <a:defRPr sz="3900"/>
            </a:lvl1pPr>
          </a:lstStyle>
          <a:p>
            <a:pPr/>
            <a:r>
              <a:t>Model Architectures</a:t>
            </a:r>
          </a:p>
        </p:txBody>
      </p:sp>
      <p:sp>
        <p:nvSpPr>
          <p:cNvPr id="193" name="Content Placeholder 2"/>
          <p:cNvSpPr txBox="1"/>
          <p:nvPr>
            <p:ph type="body" idx="1"/>
          </p:nvPr>
        </p:nvSpPr>
        <p:spPr>
          <a:xfrm>
            <a:off x="286167" y="1409700"/>
            <a:ext cx="11637551" cy="4991100"/>
          </a:xfrm>
          <a:prstGeom prst="rect">
            <a:avLst/>
          </a:prstGeom>
        </p:spPr>
        <p:txBody>
          <a:bodyPr/>
          <a:lstStyle/>
          <a:p>
            <a:pPr marL="222883" indent="-222883" defTabSz="297179">
              <a:spcBef>
                <a:spcPts val="400"/>
              </a:spcBef>
              <a:defRPr b="1" sz="2000"/>
            </a:pPr>
            <a:r>
              <a:t>5 models trained and compared: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Naive (GTFS): returns scheduled travel time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Historical Average: mean observed time per hour/stop combination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Random Forest: 300 trees, max depth 15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XGBoost: 500 trees, max depth 8, learning rate 0.03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Dual-input LSTM: sequence branch (2-layer, 128 units) + context branch (dense 32 units)</a:t>
            </a:r>
          </a:p>
          <a:p>
            <a:pPr marL="222883" indent="-222883" defTabSz="297179">
              <a:spcBef>
                <a:spcPts val="400"/>
              </a:spcBef>
              <a:defRPr b="1" sz="2000"/>
            </a:pPr>
            <a:r>
              <a:t>Training: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Log-transformed target y’ = ln(1+y) — stabilizes right-skewed travel time distribution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Chronological 80/20 train/test split — model always evaluated on most recent data</a:t>
            </a:r>
          </a:p>
        </p:txBody>
      </p:sp>
      <p:sp>
        <p:nvSpPr>
          <p:cNvPr id="194" name="Date Placeholder 3"/>
          <p:cNvSpPr txBox="1"/>
          <p:nvPr/>
        </p:nvSpPr>
        <p:spPr>
          <a:xfrm>
            <a:off x="9986536" y="6538700"/>
            <a:ext cx="965769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r>
              <a:t>June 2026</a:t>
            </a:r>
          </a:p>
        </p:txBody>
      </p:sp>
      <p:sp>
        <p:nvSpPr>
          <p:cNvPr id="195" name="Slide Number Placeholder 5"/>
          <p:cNvSpPr txBox="1"/>
          <p:nvPr>
            <p:ph type="sldNum" sz="quarter" idx="4294967295"/>
          </p:nvPr>
        </p:nvSpPr>
        <p:spPr>
          <a:xfrm>
            <a:off x="11750074" y="6538700"/>
            <a:ext cx="173639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Footer Placeholder 4"/>
          <p:cNvSpPr txBox="1"/>
          <p:nvPr/>
        </p:nvSpPr>
        <p:spPr>
          <a:xfrm>
            <a:off x="1722118" y="6538700"/>
            <a:ext cx="7901097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r>
              <a:t>CSE496 – Third Presentation</a:t>
            </a:r>
          </a:p>
        </p:txBody>
      </p:sp>
      <p:sp>
        <p:nvSpPr>
          <p:cNvPr id="198" name="Title 1"/>
          <p:cNvSpPr txBox="1"/>
          <p:nvPr>
            <p:ph type="title"/>
          </p:nvPr>
        </p:nvSpPr>
        <p:spPr>
          <a:xfrm>
            <a:off x="286170" y="279399"/>
            <a:ext cx="9755297" cy="760669"/>
          </a:xfrm>
          <a:prstGeom prst="rect">
            <a:avLst/>
          </a:prstGeom>
        </p:spPr>
        <p:txBody>
          <a:bodyPr/>
          <a:lstStyle>
            <a:lvl1pPr>
              <a:defRPr sz="3900"/>
            </a:lvl1pPr>
          </a:lstStyle>
          <a:p>
            <a:pPr/>
            <a:r>
              <a:t>A/B Methodology</a:t>
            </a:r>
          </a:p>
        </p:txBody>
      </p:sp>
      <p:sp>
        <p:nvSpPr>
          <p:cNvPr id="199" name="Content Placeholder 2"/>
          <p:cNvSpPr txBox="1"/>
          <p:nvPr>
            <p:ph type="body" idx="1"/>
          </p:nvPr>
        </p:nvSpPr>
        <p:spPr>
          <a:xfrm>
            <a:off x="286167" y="1409700"/>
            <a:ext cx="11637551" cy="4991100"/>
          </a:xfrm>
          <a:prstGeom prst="rect">
            <a:avLst/>
          </a:prstGeom>
        </p:spPr>
        <p:txBody>
          <a:bodyPr/>
          <a:lstStyle/>
          <a:p>
            <a:pPr marL="222883" indent="-222883" defTabSz="297179">
              <a:spcBef>
                <a:spcPts val="400"/>
              </a:spcBef>
              <a:defRPr b="1" sz="1800"/>
            </a:pPr>
            <a:r>
              <a:t>Principle:</a:t>
            </a:r>
          </a:p>
          <a:p>
            <a:pPr marL="222883" indent="-222883" defTabSz="297179">
              <a:spcBef>
                <a:spcPts val="400"/>
              </a:spcBef>
              <a:defRPr sz="1800"/>
            </a:pPr>
            <a:r>
              <a:t>Every proposed change treated as a controlled experiment — adopt only if measurable improvement on held-out test set</a:t>
            </a:r>
          </a:p>
          <a:p>
            <a:pPr marL="222883" indent="-222883" defTabSz="297179">
              <a:spcBef>
                <a:spcPts val="400"/>
              </a:spcBef>
              <a:defRPr sz="1800"/>
            </a:pPr>
            <a:r>
              <a:t>Same data, same split, same random seed across both arms</a:t>
            </a:r>
          </a:p>
          <a:p>
            <a:pPr marL="222883" indent="-222883" defTabSz="297179">
              <a:spcBef>
                <a:spcPts val="400"/>
              </a:spcBef>
              <a:defRPr b="1" sz="1800"/>
            </a:pPr>
            <a:r>
              <a:t>Step 1: Feature selection 29 to 16</a:t>
            </a:r>
          </a:p>
          <a:p>
            <a:pPr marL="222883" indent="-222883" defTabSz="297179">
              <a:spcBef>
                <a:spcPts val="400"/>
              </a:spcBef>
              <a:defRPr sz="1800"/>
            </a:pPr>
            <a:r>
              <a:t>Adopted — error held or improved with fewer features</a:t>
            </a:r>
          </a:p>
          <a:p>
            <a:pPr marL="222883" indent="-222883" defTabSz="297179">
              <a:spcBef>
                <a:spcPts val="400"/>
              </a:spcBef>
              <a:defRPr b="1" sz="1800"/>
            </a:pPr>
            <a:r>
              <a:t>Step 2: GPS label interpolation</a:t>
            </a:r>
          </a:p>
          <a:p>
            <a:pPr marL="222883" indent="-222883" defTabSz="297179">
              <a:spcBef>
                <a:spcPts val="400"/>
              </a:spcBef>
              <a:defRPr sz="1800"/>
            </a:pPr>
            <a:r>
              <a:t>Reverted — only 8% segment coverage at 30s polling interval</a:t>
            </a:r>
          </a:p>
          <a:p>
            <a:pPr marL="222883" indent="-222883" defTabSz="297179">
              <a:spcBef>
                <a:spcPts val="400"/>
              </a:spcBef>
              <a:defRPr b="1" sz="1800"/>
            </a:pPr>
            <a:r>
              <a:t>Step 3: Predict deviation instead of travel time</a:t>
            </a:r>
          </a:p>
          <a:p>
            <a:pPr marL="222883" indent="-222883" defTabSz="297179">
              <a:spcBef>
                <a:spcPts val="400"/>
              </a:spcBef>
              <a:defRPr sz="1800"/>
            </a:pPr>
            <a:r>
              <a:t>Reverted — worse performance; log transform already handles skew</a:t>
            </a:r>
          </a:p>
          <a:p>
            <a:pPr marL="222883" indent="-222883" defTabSz="297179">
              <a:spcBef>
                <a:spcPts val="400"/>
              </a:spcBef>
              <a:defRPr b="1" sz="1800"/>
            </a:pPr>
            <a:r>
              <a:t>Step 4: Cold-start handling</a:t>
            </a:r>
          </a:p>
          <a:p>
            <a:pPr marL="222883" indent="-222883" defTabSz="297179">
              <a:spcBef>
                <a:spcPts val="400"/>
              </a:spcBef>
              <a:defRPr sz="1800"/>
            </a:pPr>
            <a:r>
              <a:t>Adopted — no-fill + explicit trip-start indicator</a:t>
            </a:r>
          </a:p>
          <a:p>
            <a:pPr marL="222883" indent="-222883" defTabSz="297179">
              <a:spcBef>
                <a:spcPts val="400"/>
              </a:spcBef>
              <a:defRPr b="1" sz="1800"/>
            </a:pPr>
            <a:r>
              <a:t>Step 5: Reproducibility seed + LSTM tuning</a:t>
            </a:r>
          </a:p>
          <a:p>
            <a:pPr marL="222883" indent="-222883" defTabSz="297179">
              <a:spcBef>
                <a:spcPts val="400"/>
              </a:spcBef>
              <a:defRPr sz="1800"/>
            </a:pPr>
            <a:r>
              <a:t>Adopted — fixed seed; longer window improved R2, error unchanged</a:t>
            </a:r>
          </a:p>
        </p:txBody>
      </p:sp>
      <p:sp>
        <p:nvSpPr>
          <p:cNvPr id="200" name="Date Placeholder 3"/>
          <p:cNvSpPr txBox="1"/>
          <p:nvPr/>
        </p:nvSpPr>
        <p:spPr>
          <a:xfrm>
            <a:off x="9986536" y="6538700"/>
            <a:ext cx="965769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r>
              <a:t>June 2026</a:t>
            </a:r>
          </a:p>
        </p:txBody>
      </p:sp>
      <p:sp>
        <p:nvSpPr>
          <p:cNvPr id="201" name="Slide Number Placeholder 5"/>
          <p:cNvSpPr txBox="1"/>
          <p:nvPr>
            <p:ph type="sldNum" sz="quarter" idx="4294967295"/>
          </p:nvPr>
        </p:nvSpPr>
        <p:spPr>
          <a:xfrm>
            <a:off x="11750074" y="6538700"/>
            <a:ext cx="173639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Footer Placeholder 4"/>
          <p:cNvSpPr txBox="1"/>
          <p:nvPr/>
        </p:nvSpPr>
        <p:spPr>
          <a:xfrm>
            <a:off x="1722118" y="6538700"/>
            <a:ext cx="7901097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r>
              <a:t>CSE496 – Third Presentation</a:t>
            </a:r>
          </a:p>
        </p:txBody>
      </p:sp>
      <p:sp>
        <p:nvSpPr>
          <p:cNvPr id="204" name="Title 1"/>
          <p:cNvSpPr txBox="1"/>
          <p:nvPr>
            <p:ph type="title"/>
          </p:nvPr>
        </p:nvSpPr>
        <p:spPr>
          <a:xfrm>
            <a:off x="286170" y="279399"/>
            <a:ext cx="9755297" cy="760669"/>
          </a:xfrm>
          <a:prstGeom prst="rect">
            <a:avLst/>
          </a:prstGeom>
        </p:spPr>
        <p:txBody>
          <a:bodyPr/>
          <a:lstStyle>
            <a:lvl1pPr>
              <a:defRPr sz="3900"/>
            </a:lvl1pPr>
          </a:lstStyle>
          <a:p>
            <a:pPr/>
            <a:r>
              <a:t>Results: Model Comparison</a:t>
            </a:r>
          </a:p>
        </p:txBody>
      </p:sp>
      <p:graphicFrame>
        <p:nvGraphicFramePr>
          <p:cNvPr id="205" name="TableFrame"/>
          <p:cNvGraphicFramePr/>
          <p:nvPr/>
        </p:nvGraphicFramePr>
        <p:xfrm>
          <a:off x="286167" y="1349999"/>
          <a:ext cx="5800000" cy="35000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2200000"/>
                <a:gridCol w="900000"/>
                <a:gridCol w="900000"/>
                <a:gridCol w="900000"/>
                <a:gridCol w="900000"/>
              </a:tblGrid>
              <a:tr h="583333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sym typeface="Helvetica"/>
                        </a:rPr>
                        <a:t>Model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sym typeface="Helvetica"/>
                        </a:rPr>
                        <a:t>MAE (min)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sym typeface="Helvetica"/>
                        </a:rPr>
                        <a:t>RMSE (min)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sym typeface="Helvetica"/>
                        </a:rPr>
                        <a:t>MAPE (%)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sym typeface="Helvetica"/>
                        </a:rPr>
                        <a:t>R²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1A3A5C"/>
                    </a:solidFill>
                  </a:tcPr>
                </a:tc>
              </a:tr>
              <a:tr h="58333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ym typeface="Helvetica"/>
                        </a:rPr>
                        <a:t>XGBoost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4EFD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ym typeface="Helvetica"/>
                        </a:rPr>
                        <a:t>0.4327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4EFD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ym typeface="Helvetica"/>
                        </a:rPr>
                        <a:t>0.903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4EFD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ym typeface="Helvetica"/>
                        </a:rPr>
                        <a:t>41.1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4EFD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ym typeface="Helvetica"/>
                        </a:rPr>
                        <a:t>0.626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4EFDF"/>
                    </a:solidFill>
                  </a:tcPr>
                </a:tc>
              </a:tr>
              <a:tr h="58333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ym typeface="Helvetica"/>
                        </a:rPr>
                        <a:t>LSTM (dual-input)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ym typeface="Helvetica"/>
                        </a:rPr>
                        <a:t>0.4345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ym typeface="Helvetica"/>
                        </a:rPr>
                        <a:t>0.891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ym typeface="Helvetica"/>
                        </a:rPr>
                        <a:t>40.7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ym typeface="Helvetica"/>
                        </a:rPr>
                        <a:t>0.636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EBF2FA"/>
                    </a:solidFill>
                  </a:tcPr>
                </a:tc>
              </a:tr>
              <a:tr h="58333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ym typeface="Helvetica"/>
                        </a:rPr>
                        <a:t>Random Forest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ym typeface="Helvetica"/>
                        </a:rPr>
                        <a:t>0.4378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ym typeface="Helvetica"/>
                        </a:rPr>
                        <a:t>0.896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ym typeface="Helvetica"/>
                        </a:rPr>
                        <a:t>41.6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ym typeface="Helvetica"/>
                        </a:rPr>
                        <a:t>0.633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333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ym typeface="Helvetica"/>
                        </a:rPr>
                        <a:t>Historical Avg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ym typeface="Helvetica"/>
                        </a:rPr>
                        <a:t>0.645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ym typeface="Helvetica"/>
                        </a:rPr>
                        <a:t>1.317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ym typeface="Helvetica"/>
                        </a:rPr>
                        <a:t>62.7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ym typeface="Helvetica"/>
                        </a:rPr>
                        <a:t>0.206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EBF2FA"/>
                    </a:solidFill>
                  </a:tcPr>
                </a:tc>
              </a:tr>
              <a:tr h="58333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ym typeface="Helvetica"/>
                        </a:rPr>
                        <a:t>Naive (GTFS)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ym typeface="Helvetica"/>
                        </a:rPr>
                        <a:t>0.734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ym typeface="Helvetica"/>
                        </a:rPr>
                        <a:t>1.516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ym typeface="Helvetica"/>
                        </a:rPr>
                        <a:t>68.2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ym typeface="Helvetica"/>
                        </a:rPr>
                        <a:t>-0.05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6" name="Insight"/>
          <p:cNvSpPr txBox="1"/>
          <p:nvPr/>
        </p:nvSpPr>
        <p:spPr>
          <a:xfrm>
            <a:off x="331887" y="4950000"/>
            <a:ext cx="11546111" cy="506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500">
                <a:latin typeface="+mn-lt"/>
                <a:ea typeface="+mn-ea"/>
                <a:cs typeface="+mn-cs"/>
                <a:sym typeface="Calibri"/>
              </a:defRPr>
            </a:pPr>
            <a:r>
              <a:t>Key insight: </a:t>
            </a:r>
            <a:r>
              <a:rPr b="0"/>
              <a:t>Learned models cluster around 0.43 min — far below baselines. LSTM evaluated on same full test set as tree models, not an easier subset.</a:t>
            </a:r>
          </a:p>
        </p:txBody>
      </p:sp>
      <p:sp>
        <p:nvSpPr>
          <p:cNvPr id="207" name="Date Placeholder 3"/>
          <p:cNvSpPr txBox="1"/>
          <p:nvPr/>
        </p:nvSpPr>
        <p:spPr>
          <a:xfrm>
            <a:off x="9986536" y="6538700"/>
            <a:ext cx="965769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r>
              <a:t>June 2026</a:t>
            </a:r>
          </a:p>
        </p:txBody>
      </p:sp>
      <p:sp>
        <p:nvSpPr>
          <p:cNvPr id="208" name="Slide Number Placeholder 5"/>
          <p:cNvSpPr txBox="1"/>
          <p:nvPr>
            <p:ph type="sldNum" sz="quarter" idx="4294967295"/>
          </p:nvPr>
        </p:nvSpPr>
        <p:spPr>
          <a:xfrm>
            <a:off x="11680571" y="6538700"/>
            <a:ext cx="243143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09" name="Shape500"/>
          <p:cNvSpPr/>
          <p:nvPr/>
        </p:nvSpPr>
        <p:spPr>
          <a:xfrm>
            <a:off x="6299999" y="1299999"/>
            <a:ext cx="5600001" cy="4000002"/>
          </a:xfrm>
          <a:prstGeom prst="rect">
            <a:avLst/>
          </a:prstGeom>
          <a:solidFill>
            <a:srgbClr val="F8F9F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0" name="RefLine"/>
          <p:cNvSpPr/>
          <p:nvPr/>
        </p:nvSpPr>
        <p:spPr>
          <a:xfrm>
            <a:off x="6299999" y="3276470"/>
            <a:ext cx="5600001" cy="25401"/>
          </a:xfrm>
          <a:prstGeom prst="rect">
            <a:avLst/>
          </a:prstGeom>
          <a:solidFill>
            <a:srgbClr val="E74C3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1" name="Shape503"/>
          <p:cNvSpPr/>
          <p:nvPr/>
        </p:nvSpPr>
        <p:spPr>
          <a:xfrm>
            <a:off x="6680000" y="3263765"/>
            <a:ext cx="680001" cy="2036236"/>
          </a:xfrm>
          <a:prstGeom prst="rect">
            <a:avLst/>
          </a:prstGeom>
          <a:solidFill>
            <a:srgbClr val="27AE6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2" name="Label504"/>
          <p:cNvSpPr txBox="1"/>
          <p:nvPr/>
        </p:nvSpPr>
        <p:spPr>
          <a:xfrm>
            <a:off x="6680000" y="2943765"/>
            <a:ext cx="6800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33333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0.4327</a:t>
            </a:r>
          </a:p>
        </p:txBody>
      </p:sp>
      <p:sp>
        <p:nvSpPr>
          <p:cNvPr id="213" name="Label505"/>
          <p:cNvSpPr txBox="1"/>
          <p:nvPr/>
        </p:nvSpPr>
        <p:spPr>
          <a:xfrm>
            <a:off x="6629999" y="5329999"/>
            <a:ext cx="78000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33333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XGBoost</a:t>
            </a:r>
          </a:p>
        </p:txBody>
      </p:sp>
      <p:sp>
        <p:nvSpPr>
          <p:cNvPr id="214" name="Shape506"/>
          <p:cNvSpPr/>
          <p:nvPr/>
        </p:nvSpPr>
        <p:spPr>
          <a:xfrm>
            <a:off x="7720000" y="3255295"/>
            <a:ext cx="680001" cy="2044706"/>
          </a:xfrm>
          <a:prstGeom prst="rect">
            <a:avLst/>
          </a:prstGeom>
          <a:solidFill>
            <a:srgbClr val="2E6DA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5" name="Label507"/>
          <p:cNvSpPr txBox="1"/>
          <p:nvPr/>
        </p:nvSpPr>
        <p:spPr>
          <a:xfrm>
            <a:off x="7720000" y="2935295"/>
            <a:ext cx="6800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33333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0.4345</a:t>
            </a:r>
          </a:p>
        </p:txBody>
      </p:sp>
      <p:sp>
        <p:nvSpPr>
          <p:cNvPr id="216" name="Label508"/>
          <p:cNvSpPr txBox="1"/>
          <p:nvPr/>
        </p:nvSpPr>
        <p:spPr>
          <a:xfrm>
            <a:off x="7670000" y="5329999"/>
            <a:ext cx="78000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33333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LSTM</a:t>
            </a:r>
          </a:p>
        </p:txBody>
      </p:sp>
      <p:sp>
        <p:nvSpPr>
          <p:cNvPr id="217" name="Shape509"/>
          <p:cNvSpPr/>
          <p:nvPr/>
        </p:nvSpPr>
        <p:spPr>
          <a:xfrm>
            <a:off x="8760000" y="3239765"/>
            <a:ext cx="680001" cy="2060235"/>
          </a:xfrm>
          <a:prstGeom prst="rect">
            <a:avLst/>
          </a:prstGeom>
          <a:solidFill>
            <a:srgbClr val="2E6DA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8" name="Label510"/>
          <p:cNvSpPr txBox="1"/>
          <p:nvPr/>
        </p:nvSpPr>
        <p:spPr>
          <a:xfrm>
            <a:off x="8760000" y="2919764"/>
            <a:ext cx="68000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33333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0.4378</a:t>
            </a:r>
          </a:p>
        </p:txBody>
      </p:sp>
      <p:sp>
        <p:nvSpPr>
          <p:cNvPr id="219" name="Label511"/>
          <p:cNvSpPr txBox="1"/>
          <p:nvPr/>
        </p:nvSpPr>
        <p:spPr>
          <a:xfrm>
            <a:off x="8710000" y="5329999"/>
            <a:ext cx="780001" cy="390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33333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Rand. Forest</a:t>
            </a:r>
          </a:p>
        </p:txBody>
      </p:sp>
      <p:sp>
        <p:nvSpPr>
          <p:cNvPr id="220" name="Shape512"/>
          <p:cNvSpPr/>
          <p:nvPr/>
        </p:nvSpPr>
        <p:spPr>
          <a:xfrm>
            <a:off x="9800000" y="2264705"/>
            <a:ext cx="680001" cy="3035295"/>
          </a:xfrm>
          <a:prstGeom prst="rect">
            <a:avLst/>
          </a:prstGeom>
          <a:solidFill>
            <a:srgbClr val="AAB7B8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21" name="Label513"/>
          <p:cNvSpPr txBox="1"/>
          <p:nvPr/>
        </p:nvSpPr>
        <p:spPr>
          <a:xfrm>
            <a:off x="9800000" y="1944705"/>
            <a:ext cx="68000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33333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0.645</a:t>
            </a:r>
          </a:p>
        </p:txBody>
      </p:sp>
      <p:sp>
        <p:nvSpPr>
          <p:cNvPr id="222" name="Label514"/>
          <p:cNvSpPr txBox="1"/>
          <p:nvPr/>
        </p:nvSpPr>
        <p:spPr>
          <a:xfrm>
            <a:off x="9750000" y="5329999"/>
            <a:ext cx="78000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33333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Hist. Avg</a:t>
            </a:r>
          </a:p>
        </p:txBody>
      </p:sp>
      <p:sp>
        <p:nvSpPr>
          <p:cNvPr id="223" name="Shape515"/>
          <p:cNvSpPr/>
          <p:nvPr/>
        </p:nvSpPr>
        <p:spPr>
          <a:xfrm>
            <a:off x="10840000" y="1845883"/>
            <a:ext cx="680001" cy="3454118"/>
          </a:xfrm>
          <a:prstGeom prst="rect">
            <a:avLst/>
          </a:prstGeom>
          <a:solidFill>
            <a:srgbClr val="AAB7B8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24" name="Label516"/>
          <p:cNvSpPr txBox="1"/>
          <p:nvPr/>
        </p:nvSpPr>
        <p:spPr>
          <a:xfrm>
            <a:off x="10840000" y="1525883"/>
            <a:ext cx="6800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33333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0.734</a:t>
            </a:r>
          </a:p>
        </p:txBody>
      </p:sp>
      <p:sp>
        <p:nvSpPr>
          <p:cNvPr id="225" name="Label517"/>
          <p:cNvSpPr txBox="1"/>
          <p:nvPr/>
        </p:nvSpPr>
        <p:spPr>
          <a:xfrm>
            <a:off x="10790000" y="5329999"/>
            <a:ext cx="78000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33333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Naive</a:t>
            </a:r>
          </a:p>
        </p:txBody>
      </p:sp>
      <p:sp>
        <p:nvSpPr>
          <p:cNvPr id="226" name="Label518"/>
          <p:cNvSpPr txBox="1"/>
          <p:nvPr/>
        </p:nvSpPr>
        <p:spPr>
          <a:xfrm>
            <a:off x="6188926" y="2882175"/>
            <a:ext cx="600001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1100">
                <a:solidFill>
                  <a:srgbClr val="888888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t>MAE</a:t>
            </a:r>
          </a:p>
          <a:p>
            <a:pPr algn="ctr">
              <a:defRPr b="1" sz="1100">
                <a:solidFill>
                  <a:srgbClr val="888888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t>(min)</a:t>
            </a:r>
          </a:p>
        </p:txBody>
      </p:sp>
      <p:sp>
        <p:nvSpPr>
          <p:cNvPr id="227" name="Label519"/>
          <p:cNvSpPr txBox="1"/>
          <p:nvPr/>
        </p:nvSpPr>
        <p:spPr>
          <a:xfrm>
            <a:off x="6299999" y="979999"/>
            <a:ext cx="560000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400">
                <a:solidFill>
                  <a:srgbClr val="1A3A5C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MAE Comparison — All Models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Footer Placeholder 4"/>
          <p:cNvSpPr txBox="1"/>
          <p:nvPr/>
        </p:nvSpPr>
        <p:spPr>
          <a:xfrm>
            <a:off x="1722118" y="6538700"/>
            <a:ext cx="7901097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r>
              <a:t>CSE496 – Third Presentation</a:t>
            </a:r>
          </a:p>
        </p:txBody>
      </p:sp>
      <p:sp>
        <p:nvSpPr>
          <p:cNvPr id="230" name="Title 1"/>
          <p:cNvSpPr txBox="1"/>
          <p:nvPr>
            <p:ph type="title"/>
          </p:nvPr>
        </p:nvSpPr>
        <p:spPr>
          <a:xfrm>
            <a:off x="286170" y="279399"/>
            <a:ext cx="9755297" cy="760669"/>
          </a:xfrm>
          <a:prstGeom prst="rect">
            <a:avLst/>
          </a:prstGeom>
        </p:spPr>
        <p:txBody>
          <a:bodyPr/>
          <a:lstStyle>
            <a:lvl1pPr>
              <a:defRPr sz="3900"/>
            </a:lvl1pPr>
          </a:lstStyle>
          <a:p>
            <a:pPr/>
            <a:r>
              <a:t>Results: Statistical Tests</a:t>
            </a:r>
          </a:p>
        </p:txBody>
      </p:sp>
      <p:sp>
        <p:nvSpPr>
          <p:cNvPr id="231" name="Content Placeholder 2"/>
          <p:cNvSpPr txBox="1"/>
          <p:nvPr>
            <p:ph type="body" idx="1"/>
          </p:nvPr>
        </p:nvSpPr>
        <p:spPr>
          <a:xfrm>
            <a:off x="286167" y="1409700"/>
            <a:ext cx="11637551" cy="4991100"/>
          </a:xfrm>
          <a:prstGeom prst="rect">
            <a:avLst/>
          </a:prstGeom>
        </p:spPr>
        <p:txBody>
          <a:bodyPr/>
          <a:lstStyle/>
          <a:p>
            <a:pPr marL="222883" indent="-222883" defTabSz="297179">
              <a:spcBef>
                <a:spcPts val="400"/>
              </a:spcBef>
              <a:defRPr b="1" sz="2000"/>
            </a:pPr>
            <a:r>
              <a:t>Method: paired t-test + Wilcoxon signed-rank on per-segment absolute errors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XGBoost vs LSTM:          p = 0.38   — NOT significant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XGBoost vs Random Forest: p = 0.0055 — significant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LSTM vs Random Forest:    p = 0.0014 — significant</a:t>
            </a:r>
          </a:p>
          <a:p>
            <a:pPr marL="222883" indent="-222883" defTabSz="297179">
              <a:spcBef>
                <a:spcPts val="400"/>
              </a:spcBef>
              <a:defRPr b="1" sz="2000"/>
            </a:pPr>
            <a:r>
              <a:t>Clear ordering: XGBoost ≈ LSTM &gt; Random Forest &gt;&gt; Baselines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XGBoost is the most practical choice: matches deep model with no cold-start fallback needed</a:t>
            </a:r>
          </a:p>
        </p:txBody>
      </p:sp>
      <p:sp>
        <p:nvSpPr>
          <p:cNvPr id="232" name="Date Placeholder 3"/>
          <p:cNvSpPr txBox="1"/>
          <p:nvPr/>
        </p:nvSpPr>
        <p:spPr>
          <a:xfrm>
            <a:off x="9986536" y="6538700"/>
            <a:ext cx="965769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r>
              <a:t>June 2026</a:t>
            </a:r>
          </a:p>
        </p:txBody>
      </p:sp>
      <p:sp>
        <p:nvSpPr>
          <p:cNvPr id="233" name="Slide Number Placeholder 5"/>
          <p:cNvSpPr txBox="1"/>
          <p:nvPr>
            <p:ph type="sldNum" sz="quarter" idx="4294967295"/>
          </p:nvPr>
        </p:nvSpPr>
        <p:spPr>
          <a:xfrm>
            <a:off x="11689724" y="6538700"/>
            <a:ext cx="233990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Footer Placeholder 4"/>
          <p:cNvSpPr txBox="1"/>
          <p:nvPr/>
        </p:nvSpPr>
        <p:spPr>
          <a:xfrm>
            <a:off x="1722118" y="6538700"/>
            <a:ext cx="7901097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r>
              <a:t>CSE496 – Third Presentation</a:t>
            </a:r>
          </a:p>
        </p:txBody>
      </p:sp>
      <p:sp>
        <p:nvSpPr>
          <p:cNvPr id="236" name="Title 1"/>
          <p:cNvSpPr txBox="1"/>
          <p:nvPr>
            <p:ph type="title"/>
          </p:nvPr>
        </p:nvSpPr>
        <p:spPr>
          <a:xfrm>
            <a:off x="286170" y="279399"/>
            <a:ext cx="9755297" cy="760669"/>
          </a:xfrm>
          <a:prstGeom prst="rect">
            <a:avLst/>
          </a:prstGeom>
        </p:spPr>
        <p:txBody>
          <a:bodyPr/>
          <a:lstStyle>
            <a:lvl1pPr>
              <a:defRPr sz="3900"/>
            </a:lvl1pPr>
          </a:lstStyle>
          <a:p>
            <a:pPr/>
            <a:r>
              <a:t>Results: Condition-Based Analysis</a:t>
            </a:r>
          </a:p>
        </p:txBody>
      </p:sp>
      <p:graphicFrame>
        <p:nvGraphicFramePr>
          <p:cNvPr id="237" name="TableFrame"/>
          <p:cNvGraphicFramePr/>
          <p:nvPr/>
        </p:nvGraphicFramePr>
        <p:xfrm>
          <a:off x="286167" y="1306748"/>
          <a:ext cx="11650251" cy="4545003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5500000"/>
                <a:gridCol w="6137551"/>
              </a:tblGrid>
              <a:tr h="348638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sym typeface="Helvetica"/>
                        </a:rPr>
                        <a:t>Condition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sym typeface="Helvetica"/>
                        </a:rPr>
                        <a:t>MAE (min)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1A3A5C"/>
                    </a:solidFill>
                  </a:tcPr>
                </a:tc>
              </a:tr>
              <a:tr h="34863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ym typeface="Helvetica"/>
                        </a:rPr>
                        <a:t>Direction: Halkapinar → Cengizhan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ym typeface="Helvetica"/>
                        </a:rPr>
                        <a:t>0.380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863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ym typeface="Helvetica"/>
                        </a:rPr>
                        <a:t>Direction: Cengizhan → Halkapinar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ym typeface="Helvetica"/>
                        </a:rPr>
                        <a:t>0.540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4863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ym typeface="Helvetica"/>
                        </a:rPr>
                        <a:t>Time of day: Morning peak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ym typeface="Helvetica"/>
                        </a:rPr>
                        <a:t>0.464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863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ym typeface="Helvetica"/>
                        </a:rPr>
                        <a:t>Time of day: Off-peak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ym typeface="Helvetica"/>
                        </a:rPr>
                        <a:t>0.439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4863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ym typeface="Helvetica"/>
                        </a:rPr>
                        <a:t>Time of day: Evening peak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ym typeface="Helvetica"/>
                        </a:rPr>
                        <a:t>0.388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863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ym typeface="Helvetica"/>
                        </a:rPr>
                        <a:t>Time of day: Night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ym typeface="Helvetica"/>
                        </a:rPr>
                        <a:t>0.366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4863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ym typeface="Helvetica"/>
                        </a:rPr>
                        <a:t>Weather: Clear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ym typeface="Helvetica"/>
                        </a:rPr>
                        <a:t>0.444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863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ym typeface="Helvetica"/>
                        </a:rPr>
                        <a:t>Weather: Cloudy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ym typeface="Helvetica"/>
                        </a:rPr>
                        <a:t>0.418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4863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ym typeface="Helvetica"/>
                        </a:rPr>
                        <a:t>Weather: Rainy (n=324 — coverage gap)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ym typeface="Helvetica"/>
                        </a:rPr>
                        <a:t>0.595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863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ym typeface="Helvetica"/>
                        </a:rPr>
                        <a:t>Stop zone: Start 0–33%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ym typeface="Helvetica"/>
                        </a:rPr>
                        <a:t>0.541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4863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ym typeface="Helvetica"/>
                        </a:rPr>
                        <a:t>Stop zone: Middle 33–66%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ym typeface="Helvetica"/>
                        </a:rPr>
                        <a:t>0.345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863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ym typeface="Helvetica"/>
                        </a:rPr>
                        <a:t>Stop zone: End 66–100%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ym typeface="Helvetica"/>
                        </a:rPr>
                        <a:t>0.365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38" name="Insight"/>
          <p:cNvSpPr txBox="1"/>
          <p:nvPr/>
        </p:nvSpPr>
        <p:spPr>
          <a:xfrm>
            <a:off x="331887" y="6067633"/>
            <a:ext cx="1154611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500">
                <a:latin typeface="+mn-lt"/>
                <a:ea typeface="+mn-ea"/>
                <a:cs typeface="+mn-cs"/>
                <a:sym typeface="Calibri"/>
              </a:defRPr>
            </a:pPr>
            <a:r>
              <a:t>Key: </a:t>
            </a:r>
            <a:r>
              <a:rPr b="0"/>
              <a:t>Morning peak hardest. Cold-start zone (first third) ~1.5x higher error. Rainy MAE elevated — data coverage gap, not a modeling failure.</a:t>
            </a:r>
          </a:p>
        </p:txBody>
      </p:sp>
      <p:sp>
        <p:nvSpPr>
          <p:cNvPr id="239" name="Date Placeholder 3"/>
          <p:cNvSpPr txBox="1"/>
          <p:nvPr/>
        </p:nvSpPr>
        <p:spPr>
          <a:xfrm>
            <a:off x="9986536" y="6538700"/>
            <a:ext cx="965769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r>
              <a:t>June 2026</a:t>
            </a:r>
          </a:p>
        </p:txBody>
      </p:sp>
      <p:sp>
        <p:nvSpPr>
          <p:cNvPr id="240" name="Slide Number Placeholder 5"/>
          <p:cNvSpPr txBox="1"/>
          <p:nvPr>
            <p:ph type="sldNum" sz="quarter" idx="4294967295"/>
          </p:nvPr>
        </p:nvSpPr>
        <p:spPr>
          <a:xfrm>
            <a:off x="11680571" y="6538700"/>
            <a:ext cx="243143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Footer Placeholder 4"/>
          <p:cNvSpPr txBox="1"/>
          <p:nvPr/>
        </p:nvSpPr>
        <p:spPr>
          <a:xfrm>
            <a:off x="1722118" y="6538700"/>
            <a:ext cx="7901097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r>
              <a:t>CSE496 – Third Presentation</a:t>
            </a:r>
          </a:p>
        </p:txBody>
      </p:sp>
      <p:sp>
        <p:nvSpPr>
          <p:cNvPr id="243" name="Title 1"/>
          <p:cNvSpPr txBox="1"/>
          <p:nvPr>
            <p:ph type="title"/>
          </p:nvPr>
        </p:nvSpPr>
        <p:spPr>
          <a:xfrm>
            <a:off x="286170" y="279399"/>
            <a:ext cx="9755297" cy="760669"/>
          </a:xfrm>
          <a:prstGeom prst="rect">
            <a:avLst/>
          </a:prstGeom>
        </p:spPr>
        <p:txBody>
          <a:bodyPr/>
          <a:lstStyle>
            <a:lvl1pPr>
              <a:defRPr sz="3900"/>
            </a:lvl1pPr>
          </a:lstStyle>
          <a:p>
            <a:pPr/>
            <a:r>
              <a:t>Generalization Across Routes</a:t>
            </a:r>
          </a:p>
        </p:txBody>
      </p:sp>
      <p:sp>
        <p:nvSpPr>
          <p:cNvPr id="244" name="Content Placeholder 2"/>
          <p:cNvSpPr txBox="1"/>
          <p:nvPr>
            <p:ph type="body" sz="half" idx="1"/>
          </p:nvPr>
        </p:nvSpPr>
        <p:spPr>
          <a:xfrm>
            <a:off x="286167" y="1409700"/>
            <a:ext cx="4983834" cy="4991100"/>
          </a:xfrm>
          <a:prstGeom prst="rect">
            <a:avLst/>
          </a:prstGeom>
        </p:spPr>
        <p:txBody>
          <a:bodyPr/>
          <a:lstStyle/>
          <a:p>
            <a:pPr marL="222883" indent="-222883" defTabSz="297179">
              <a:spcBef>
                <a:spcPts val="400"/>
              </a:spcBef>
              <a:defRPr b="1" sz="1600"/>
            </a:pPr>
            <a:r>
              <a:t>Same pipeline applied unchanged to routes 268 and 565</a:t>
            </a:r>
          </a:p>
          <a:p>
            <a:pPr marL="222883" indent="-222883" defTabSz="297179">
              <a:spcBef>
                <a:spcPts val="400"/>
              </a:spcBef>
              <a:defRPr sz="1600"/>
            </a:pPr>
            <a:r>
              <a:t>Route 502: 81,575 segments  |  MAE 0.433 min  |  R2 0.626</a:t>
            </a:r>
          </a:p>
          <a:p>
            <a:pPr marL="222883" indent="-222883" defTabSz="297179">
              <a:spcBef>
                <a:spcPts val="400"/>
              </a:spcBef>
              <a:defRPr sz="1600"/>
            </a:pPr>
            <a:r>
              <a:t>Route 268: 115,803 segments |  MAE 0.371 min  |  R2 0.542</a:t>
            </a:r>
          </a:p>
          <a:p>
            <a:pPr marL="222883" indent="-222883" defTabSz="297179">
              <a:spcBef>
                <a:spcPts val="400"/>
              </a:spcBef>
              <a:defRPr sz="1600"/>
            </a:pPr>
            <a:r>
              <a:t>Route 565: 114,572 segments |  MAE 0.304 min  |  R2 0.483</a:t>
            </a:r>
          </a:p>
          <a:p>
            <a:pPr marL="222883" indent="-222883" defTabSz="297179">
              <a:spcBef>
                <a:spcPts val="400"/>
              </a:spcBef>
              <a:defRPr b="1" sz="1600"/>
            </a:pPr>
          </a:p>
          <a:p>
            <a:pPr marL="222883" indent="-222883" defTabSz="297179">
              <a:spcBef>
                <a:spcPts val="400"/>
              </a:spcBef>
              <a:defRPr b="1" sz="1600"/>
            </a:pPr>
            <a:r>
              <a:t>Conclusion:</a:t>
            </a:r>
          </a:p>
          <a:p>
            <a:pPr marL="222883" indent="-222883" defTabSz="297179">
              <a:spcBef>
                <a:spcPts val="400"/>
              </a:spcBef>
              <a:defRPr sz="1600"/>
            </a:pPr>
            <a:r>
              <a:t>Consistent results across routes with different lengths and traffic profiles</a:t>
            </a:r>
          </a:p>
          <a:p>
            <a:pPr marL="222883" indent="-222883" defTabSz="297179">
              <a:spcBef>
                <a:spcPts val="400"/>
              </a:spcBef>
              <a:defRPr sz="1600"/>
            </a:pPr>
            <a:r>
              <a:t>Method captures transferable structure — not route-502-specific patterns</a:t>
            </a:r>
          </a:p>
          <a:p>
            <a:pPr marL="222883" indent="-222883" defTabSz="297179">
              <a:spcBef>
                <a:spcPts val="400"/>
              </a:spcBef>
              <a:defRPr sz="1600"/>
            </a:pPr>
            <a:r>
              <a:t>Lower R² on routes 268/565 reflects different traffic variability, not model degradation — MAE remains strong</a:t>
            </a:r>
          </a:p>
        </p:txBody>
      </p:sp>
      <p:sp>
        <p:nvSpPr>
          <p:cNvPr id="245" name="Date Placeholder 3"/>
          <p:cNvSpPr txBox="1"/>
          <p:nvPr/>
        </p:nvSpPr>
        <p:spPr>
          <a:xfrm>
            <a:off x="9986536" y="6538700"/>
            <a:ext cx="965769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r>
              <a:t>June 2026</a:t>
            </a:r>
          </a:p>
        </p:txBody>
      </p:sp>
      <p:sp>
        <p:nvSpPr>
          <p:cNvPr id="246" name="Slide Number Placeholder 5"/>
          <p:cNvSpPr txBox="1"/>
          <p:nvPr>
            <p:ph type="sldNum" sz="quarter" idx="4294967295"/>
          </p:nvPr>
        </p:nvSpPr>
        <p:spPr>
          <a:xfrm>
            <a:off x="11680571" y="6538700"/>
            <a:ext cx="243143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47" name="Shape600"/>
          <p:cNvSpPr/>
          <p:nvPr/>
        </p:nvSpPr>
        <p:spPr>
          <a:xfrm>
            <a:off x="5379204" y="1496712"/>
            <a:ext cx="3441592" cy="3800000"/>
          </a:xfrm>
          <a:prstGeom prst="rect">
            <a:avLst/>
          </a:prstGeom>
          <a:solidFill>
            <a:srgbClr val="F8F9F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48" name="Label601"/>
          <p:cNvSpPr txBox="1"/>
          <p:nvPr/>
        </p:nvSpPr>
        <p:spPr>
          <a:xfrm>
            <a:off x="5399999" y="1205158"/>
            <a:ext cx="300000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400">
                <a:solidFill>
                  <a:srgbClr val="1A3A5C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MAE (min) — lower is better</a:t>
            </a:r>
          </a:p>
        </p:txBody>
      </p:sp>
      <p:sp>
        <p:nvSpPr>
          <p:cNvPr id="249" name="Shape602"/>
          <p:cNvSpPr/>
          <p:nvPr/>
        </p:nvSpPr>
        <p:spPr>
          <a:xfrm>
            <a:off x="5630000" y="2009200"/>
            <a:ext cx="540001" cy="3290800"/>
          </a:xfrm>
          <a:prstGeom prst="rect">
            <a:avLst/>
          </a:prstGeom>
          <a:solidFill>
            <a:srgbClr val="2E6DA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50" name="Label603"/>
          <p:cNvSpPr txBox="1"/>
          <p:nvPr/>
        </p:nvSpPr>
        <p:spPr>
          <a:xfrm>
            <a:off x="5530000" y="1669200"/>
            <a:ext cx="74000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33333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0.433</a:t>
            </a:r>
          </a:p>
        </p:txBody>
      </p:sp>
      <p:sp>
        <p:nvSpPr>
          <p:cNvPr id="251" name="Label604"/>
          <p:cNvSpPr txBox="1"/>
          <p:nvPr/>
        </p:nvSpPr>
        <p:spPr>
          <a:xfrm>
            <a:off x="5530000" y="5329999"/>
            <a:ext cx="74000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33333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Route 502</a:t>
            </a:r>
          </a:p>
        </p:txBody>
      </p:sp>
      <p:sp>
        <p:nvSpPr>
          <p:cNvPr id="252" name="Shape605"/>
          <p:cNvSpPr/>
          <p:nvPr/>
        </p:nvSpPr>
        <p:spPr>
          <a:xfrm>
            <a:off x="6629999" y="2480399"/>
            <a:ext cx="540001" cy="2819601"/>
          </a:xfrm>
          <a:prstGeom prst="rect">
            <a:avLst/>
          </a:prstGeom>
          <a:solidFill>
            <a:srgbClr val="2E6DA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53" name="Label606"/>
          <p:cNvSpPr txBox="1"/>
          <p:nvPr/>
        </p:nvSpPr>
        <p:spPr>
          <a:xfrm>
            <a:off x="6529999" y="2140399"/>
            <a:ext cx="74000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33333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0.371</a:t>
            </a:r>
          </a:p>
        </p:txBody>
      </p:sp>
      <p:sp>
        <p:nvSpPr>
          <p:cNvPr id="254" name="Label607"/>
          <p:cNvSpPr txBox="1"/>
          <p:nvPr/>
        </p:nvSpPr>
        <p:spPr>
          <a:xfrm>
            <a:off x="6529999" y="5329999"/>
            <a:ext cx="74000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33333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Route 268</a:t>
            </a:r>
          </a:p>
        </p:txBody>
      </p:sp>
      <p:sp>
        <p:nvSpPr>
          <p:cNvPr id="255" name="Shape608"/>
          <p:cNvSpPr/>
          <p:nvPr/>
        </p:nvSpPr>
        <p:spPr>
          <a:xfrm>
            <a:off x="7630000" y="2989600"/>
            <a:ext cx="540001" cy="2310401"/>
          </a:xfrm>
          <a:prstGeom prst="rect">
            <a:avLst/>
          </a:prstGeom>
          <a:solidFill>
            <a:srgbClr val="2E6DA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56" name="Label609"/>
          <p:cNvSpPr txBox="1"/>
          <p:nvPr/>
        </p:nvSpPr>
        <p:spPr>
          <a:xfrm>
            <a:off x="7530000" y="2649600"/>
            <a:ext cx="74000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33333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0.304</a:t>
            </a:r>
          </a:p>
        </p:txBody>
      </p:sp>
      <p:sp>
        <p:nvSpPr>
          <p:cNvPr id="257" name="Label610"/>
          <p:cNvSpPr txBox="1"/>
          <p:nvPr/>
        </p:nvSpPr>
        <p:spPr>
          <a:xfrm>
            <a:off x="7530000" y="5329999"/>
            <a:ext cx="74000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33333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Route 565</a:t>
            </a:r>
          </a:p>
        </p:txBody>
      </p:sp>
      <p:sp>
        <p:nvSpPr>
          <p:cNvPr id="258" name="Shape611"/>
          <p:cNvSpPr/>
          <p:nvPr/>
        </p:nvSpPr>
        <p:spPr>
          <a:xfrm>
            <a:off x="8800000" y="1499999"/>
            <a:ext cx="3000001" cy="3800001"/>
          </a:xfrm>
          <a:prstGeom prst="rect">
            <a:avLst/>
          </a:prstGeom>
          <a:solidFill>
            <a:srgbClr val="F8F9F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59" name="Label612"/>
          <p:cNvSpPr txBox="1"/>
          <p:nvPr/>
        </p:nvSpPr>
        <p:spPr>
          <a:xfrm>
            <a:off x="8800000" y="1205158"/>
            <a:ext cx="300000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400">
                <a:solidFill>
                  <a:srgbClr val="1A3A5C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R² — higher is better</a:t>
            </a:r>
          </a:p>
        </p:txBody>
      </p:sp>
      <p:sp>
        <p:nvSpPr>
          <p:cNvPr id="260" name="Shape613"/>
          <p:cNvSpPr/>
          <p:nvPr/>
        </p:nvSpPr>
        <p:spPr>
          <a:xfrm>
            <a:off x="9029999" y="2128267"/>
            <a:ext cx="540001" cy="3171733"/>
          </a:xfrm>
          <a:prstGeom prst="rect">
            <a:avLst/>
          </a:prstGeom>
          <a:solidFill>
            <a:srgbClr val="27AE6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61" name="Label614"/>
          <p:cNvSpPr txBox="1"/>
          <p:nvPr/>
        </p:nvSpPr>
        <p:spPr>
          <a:xfrm>
            <a:off x="8929999" y="1788267"/>
            <a:ext cx="74000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33333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0.626</a:t>
            </a:r>
          </a:p>
        </p:txBody>
      </p:sp>
      <p:sp>
        <p:nvSpPr>
          <p:cNvPr id="262" name="Label615"/>
          <p:cNvSpPr txBox="1"/>
          <p:nvPr/>
        </p:nvSpPr>
        <p:spPr>
          <a:xfrm>
            <a:off x="8929999" y="5329999"/>
            <a:ext cx="74000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33333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Route 502</a:t>
            </a:r>
          </a:p>
        </p:txBody>
      </p:sp>
      <p:sp>
        <p:nvSpPr>
          <p:cNvPr id="263" name="Shape616"/>
          <p:cNvSpPr/>
          <p:nvPr/>
        </p:nvSpPr>
        <p:spPr>
          <a:xfrm>
            <a:off x="10030000" y="2553867"/>
            <a:ext cx="540001" cy="2746133"/>
          </a:xfrm>
          <a:prstGeom prst="rect">
            <a:avLst/>
          </a:prstGeom>
          <a:solidFill>
            <a:srgbClr val="27AE6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64" name="Label617"/>
          <p:cNvSpPr txBox="1"/>
          <p:nvPr/>
        </p:nvSpPr>
        <p:spPr>
          <a:xfrm>
            <a:off x="9930000" y="2213867"/>
            <a:ext cx="74000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33333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0.542</a:t>
            </a:r>
          </a:p>
        </p:txBody>
      </p:sp>
      <p:sp>
        <p:nvSpPr>
          <p:cNvPr id="265" name="Label618"/>
          <p:cNvSpPr txBox="1"/>
          <p:nvPr/>
        </p:nvSpPr>
        <p:spPr>
          <a:xfrm>
            <a:off x="9930000" y="5329999"/>
            <a:ext cx="74000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33333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Route 268</a:t>
            </a:r>
          </a:p>
        </p:txBody>
      </p:sp>
      <p:sp>
        <p:nvSpPr>
          <p:cNvPr id="266" name="Shape619"/>
          <p:cNvSpPr/>
          <p:nvPr/>
        </p:nvSpPr>
        <p:spPr>
          <a:xfrm>
            <a:off x="11030000" y="2852800"/>
            <a:ext cx="540001" cy="2447201"/>
          </a:xfrm>
          <a:prstGeom prst="rect">
            <a:avLst/>
          </a:prstGeom>
          <a:solidFill>
            <a:srgbClr val="27AE6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67" name="Label620"/>
          <p:cNvSpPr txBox="1"/>
          <p:nvPr/>
        </p:nvSpPr>
        <p:spPr>
          <a:xfrm>
            <a:off x="10930000" y="2512799"/>
            <a:ext cx="74000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33333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0.483</a:t>
            </a:r>
          </a:p>
        </p:txBody>
      </p:sp>
      <p:sp>
        <p:nvSpPr>
          <p:cNvPr id="268" name="Label621"/>
          <p:cNvSpPr txBox="1"/>
          <p:nvPr/>
        </p:nvSpPr>
        <p:spPr>
          <a:xfrm>
            <a:off x="10930000" y="5329999"/>
            <a:ext cx="74000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33333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Route 565</a:t>
            </a:r>
          </a:p>
        </p:txBody>
      </p:sp>
      <p:sp>
        <p:nvSpPr>
          <p:cNvPr id="269" name="Label622"/>
          <p:cNvSpPr txBox="1"/>
          <p:nvPr/>
        </p:nvSpPr>
        <p:spPr>
          <a:xfrm>
            <a:off x="5379204" y="6104042"/>
            <a:ext cx="640000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200">
                <a:solidFill>
                  <a:srgbClr val="666666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Note: Lower R² on routes 268/565 reflects different traffic variability — MAE remains strong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Footer Placeholder 4"/>
          <p:cNvSpPr txBox="1"/>
          <p:nvPr/>
        </p:nvSpPr>
        <p:spPr>
          <a:xfrm>
            <a:off x="1722118" y="6538700"/>
            <a:ext cx="7901097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r>
              <a:t>CSE496 – Third Presentation</a:t>
            </a:r>
          </a:p>
        </p:txBody>
      </p:sp>
      <p:sp>
        <p:nvSpPr>
          <p:cNvPr id="272" name="Title 1"/>
          <p:cNvSpPr txBox="1"/>
          <p:nvPr>
            <p:ph type="title"/>
          </p:nvPr>
        </p:nvSpPr>
        <p:spPr>
          <a:xfrm>
            <a:off x="286170" y="279399"/>
            <a:ext cx="9755297" cy="760669"/>
          </a:xfrm>
          <a:prstGeom prst="rect">
            <a:avLst/>
          </a:prstGeom>
        </p:spPr>
        <p:txBody>
          <a:bodyPr/>
          <a:lstStyle>
            <a:lvl1pPr>
              <a:defRPr sz="3900"/>
            </a:lvl1pPr>
          </a:lstStyle>
          <a:p>
            <a:pPr/>
            <a:r>
              <a:t>Comparison With Reference Study</a:t>
            </a:r>
          </a:p>
        </p:txBody>
      </p:sp>
      <p:sp>
        <p:nvSpPr>
          <p:cNvPr id="273" name="Content Placeholder 2"/>
          <p:cNvSpPr txBox="1"/>
          <p:nvPr>
            <p:ph type="body" idx="1"/>
          </p:nvPr>
        </p:nvSpPr>
        <p:spPr>
          <a:xfrm>
            <a:off x="286167" y="1409700"/>
            <a:ext cx="11637551" cy="4991100"/>
          </a:xfrm>
          <a:prstGeom prst="rect">
            <a:avLst/>
          </a:prstGeom>
        </p:spPr>
        <p:txBody>
          <a:bodyPr/>
          <a:lstStyle/>
          <a:p>
            <a:pPr marL="222883" indent="-222883" defTabSz="297179">
              <a:spcBef>
                <a:spcPts val="400"/>
              </a:spcBef>
              <a:defRPr b="1" sz="2000"/>
            </a:pPr>
            <a:r>
              <a:t>Reference: Kaya &amp; Kalay (2025)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Context-aware deep learning for bus arrival time forecasting — reported MAE: 2.97 minutes</a:t>
            </a:r>
          </a:p>
          <a:p>
            <a:pPr marL="222883" indent="-222883" defTabSz="297179">
              <a:spcBef>
                <a:spcPts val="400"/>
              </a:spcBef>
              <a:defRPr b="1" sz="2000"/>
            </a:pPr>
            <a:r>
              <a:t>This project: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MAE = 0.43 minutes on route 502</a:t>
            </a:r>
          </a:p>
          <a:p>
            <a:pPr marL="222883" indent="-222883" defTabSz="297179">
              <a:spcBef>
                <a:spcPts val="400"/>
              </a:spcBef>
              <a:defRPr b="1" sz="2000"/>
            </a:pPr>
            <a:r>
              <a:t>Important caveat — different prediction scales: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Reference predicts full-route arrival times accumulated over many stops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This project predicts single inter-stop segment times (~1.2 min average)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Different granularity, complementary contribution — segment-level precision enables dynamic, stop-by-stop arrival updates</a:t>
            </a:r>
          </a:p>
          <a:p>
            <a:pPr marL="222883" indent="-222883" defTabSz="297179">
              <a:spcBef>
                <a:spcPts val="400"/>
              </a:spcBef>
              <a:defRPr b="1" sz="2000"/>
            </a:pPr>
            <a:r>
              <a:t>Honest comparison: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Our MAPE (~41%) and R2 (~0.63) reflect the difficulty of predicting very short, highly variable segments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Both studies validate context-aware features: schedule, dwell-time, temporal</a:t>
            </a:r>
          </a:p>
        </p:txBody>
      </p:sp>
      <p:sp>
        <p:nvSpPr>
          <p:cNvPr id="274" name="Date Placeholder 3"/>
          <p:cNvSpPr txBox="1"/>
          <p:nvPr/>
        </p:nvSpPr>
        <p:spPr>
          <a:xfrm>
            <a:off x="9986536" y="6538700"/>
            <a:ext cx="965769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r>
              <a:t>June 2026</a:t>
            </a:r>
          </a:p>
        </p:txBody>
      </p:sp>
      <p:sp>
        <p:nvSpPr>
          <p:cNvPr id="275" name="Slide Number Placeholder 5"/>
          <p:cNvSpPr txBox="1"/>
          <p:nvPr>
            <p:ph type="sldNum" sz="quarter" idx="4294967295"/>
          </p:nvPr>
        </p:nvSpPr>
        <p:spPr>
          <a:xfrm>
            <a:off x="11680571" y="6538700"/>
            <a:ext cx="243143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Footer Placeholder 4"/>
          <p:cNvSpPr txBox="1"/>
          <p:nvPr/>
        </p:nvSpPr>
        <p:spPr>
          <a:xfrm>
            <a:off x="1722118" y="6538700"/>
            <a:ext cx="7901097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r>
              <a:t>CSE496 – Third Presentation</a:t>
            </a:r>
          </a:p>
        </p:txBody>
      </p:sp>
      <p:sp>
        <p:nvSpPr>
          <p:cNvPr id="278" name="Title 1"/>
          <p:cNvSpPr txBox="1"/>
          <p:nvPr>
            <p:ph type="title"/>
          </p:nvPr>
        </p:nvSpPr>
        <p:spPr>
          <a:xfrm>
            <a:off x="286170" y="279399"/>
            <a:ext cx="9755297" cy="760669"/>
          </a:xfrm>
          <a:prstGeom prst="rect">
            <a:avLst/>
          </a:prstGeom>
        </p:spPr>
        <p:txBody>
          <a:bodyPr/>
          <a:lstStyle>
            <a:lvl1pPr>
              <a:defRPr sz="3900"/>
            </a:lvl1pPr>
          </a:lstStyle>
          <a:p>
            <a:pPr/>
            <a:r>
              <a:t>Methodological Findings</a:t>
            </a:r>
          </a:p>
        </p:txBody>
      </p:sp>
      <p:sp>
        <p:nvSpPr>
          <p:cNvPr id="279" name="Content Placeholder 2"/>
          <p:cNvSpPr txBox="1"/>
          <p:nvPr>
            <p:ph type="body" idx="1"/>
          </p:nvPr>
        </p:nvSpPr>
        <p:spPr>
          <a:xfrm>
            <a:off x="286167" y="1409700"/>
            <a:ext cx="11637551" cy="4991100"/>
          </a:xfrm>
          <a:prstGeom prst="rect">
            <a:avLst/>
          </a:prstGeom>
        </p:spPr>
        <p:txBody>
          <a:bodyPr/>
          <a:lstStyle/>
          <a:p>
            <a:pPr marL="222883" indent="-222883" defTabSz="297179">
              <a:spcBef>
                <a:spcPts val="400"/>
              </a:spcBef>
              <a:defRPr b="1" sz="2000"/>
            </a:pPr>
            <a:r>
              <a:t>1. A measurement floor governs accuracy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Achievable MAE ~0.43 min (~26 sec) matches one polling interval — neither label interpolation, target reframing, nor deeper models moved this floor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Better accuracy requires denser positioning data, not more complex models</a:t>
            </a:r>
          </a:p>
          <a:p>
            <a:pPr marL="222883" indent="-222883" defTabSz="297179">
              <a:spcBef>
                <a:spcPts val="400"/>
              </a:spcBef>
              <a:defRPr b="1" sz="2000"/>
            </a:pPr>
            <a:r>
              <a:t>2. Simpler is not worse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Reducing features from 29 to 16 did not hurt accuracy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Predicting travel time directly beat predicting deviation from schedule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Classical XGBoost statistically matches the deep LSTM</a:t>
            </a:r>
          </a:p>
          <a:p>
            <a:pPr marL="222883" indent="-222883" defTabSz="297179">
              <a:spcBef>
                <a:spcPts val="400"/>
              </a:spcBef>
              <a:defRPr b="1" sz="2000"/>
            </a:pPr>
            <a:r>
              <a:t>3. Fair evaluation matters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LSTM initially appeared best (MAE ~0.35) — but measured on easier subset excluding cold-start segments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Same-test-set comparison corrected this: LSTM 0.4345 vs XGBoost 0.4327</a:t>
            </a:r>
          </a:p>
        </p:txBody>
      </p:sp>
      <p:sp>
        <p:nvSpPr>
          <p:cNvPr id="280" name="Date Placeholder 3"/>
          <p:cNvSpPr txBox="1"/>
          <p:nvPr/>
        </p:nvSpPr>
        <p:spPr>
          <a:xfrm>
            <a:off x="9986536" y="6538700"/>
            <a:ext cx="965769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r>
              <a:t>June 2026</a:t>
            </a:r>
          </a:p>
        </p:txBody>
      </p:sp>
      <p:sp>
        <p:nvSpPr>
          <p:cNvPr id="281" name="Slide Number Placeholder 5"/>
          <p:cNvSpPr txBox="1"/>
          <p:nvPr>
            <p:ph type="sldNum" sz="quarter" idx="4294967295"/>
          </p:nvPr>
        </p:nvSpPr>
        <p:spPr>
          <a:xfrm>
            <a:off x="11680571" y="6538700"/>
            <a:ext cx="243143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Footer Placeholder 4"/>
          <p:cNvSpPr txBox="1"/>
          <p:nvPr/>
        </p:nvSpPr>
        <p:spPr>
          <a:xfrm>
            <a:off x="1722118" y="6538700"/>
            <a:ext cx="7901097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r>
              <a:t>CSE496 – Third Presentation</a:t>
            </a:r>
          </a:p>
        </p:txBody>
      </p:sp>
      <p:sp>
        <p:nvSpPr>
          <p:cNvPr id="284" name="Title 1"/>
          <p:cNvSpPr txBox="1"/>
          <p:nvPr>
            <p:ph type="title"/>
          </p:nvPr>
        </p:nvSpPr>
        <p:spPr>
          <a:xfrm>
            <a:off x="286170" y="279399"/>
            <a:ext cx="9755297" cy="760669"/>
          </a:xfrm>
          <a:prstGeom prst="rect">
            <a:avLst/>
          </a:prstGeom>
        </p:spPr>
        <p:txBody>
          <a:bodyPr/>
          <a:lstStyle>
            <a:lvl1pPr>
              <a:defRPr sz="3900"/>
            </a:lvl1pPr>
          </a:lstStyle>
          <a:p>
            <a:pPr/>
            <a:r>
              <a:t>Conclusion &amp; Future Work</a:t>
            </a:r>
          </a:p>
        </p:txBody>
      </p:sp>
      <p:sp>
        <p:nvSpPr>
          <p:cNvPr id="285" name="Content Placeholder 2"/>
          <p:cNvSpPr txBox="1"/>
          <p:nvPr>
            <p:ph type="body" idx="1"/>
          </p:nvPr>
        </p:nvSpPr>
        <p:spPr>
          <a:xfrm>
            <a:off x="286167" y="1409700"/>
            <a:ext cx="11637551" cy="4991100"/>
          </a:xfrm>
          <a:prstGeom prst="rect">
            <a:avLst/>
          </a:prstGeom>
        </p:spPr>
        <p:txBody>
          <a:bodyPr/>
          <a:lstStyle/>
          <a:p>
            <a:pPr marL="222883" indent="-222883" defTabSz="297179">
              <a:spcBef>
                <a:spcPts val="400"/>
              </a:spcBef>
              <a:defRPr b="1" sz="2000"/>
            </a:pPr>
            <a:r>
              <a:t>Summary: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End-to-end reproducible BATP pipeline for Izmir ESHOT — independently collected dataset, 3 months, 3 routes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XGBoost and LSTM statistically equivalent (p=0.38), both significantly better than Random Forest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GTFS schedule and dwell-time features confirmed as most informative inputs — validated by A/B feature selection experiments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Method generalizes consistently across all 3 routes</a:t>
            </a:r>
          </a:p>
          <a:p>
            <a:pPr marL="222883" indent="-222883" defTabSz="297179">
              <a:spcBef>
                <a:spcPts val="400"/>
              </a:spcBef>
              <a:defRPr b="1" sz="2000"/>
            </a:pPr>
            <a:r>
              <a:t>Future Work: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Denser positioning data (GTFS-Realtime) to break the 30-second measurement floor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Trip-level arrival prediction + live passenger-facing dashboard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Full seasonal weather coverage (rain, snow) for weather-aware modeling</a:t>
            </a:r>
          </a:p>
          <a:p>
            <a:pPr marL="222883" indent="-222883" defTabSz="297179">
              <a:spcBef>
                <a:spcPts val="400"/>
              </a:spcBef>
              <a:defRPr sz="2000"/>
            </a:pPr>
            <a:r>
              <a:t>Multi-route joint model for transfer learning</a:t>
            </a:r>
          </a:p>
        </p:txBody>
      </p:sp>
      <p:sp>
        <p:nvSpPr>
          <p:cNvPr id="286" name="Date Placeholder 3"/>
          <p:cNvSpPr txBox="1"/>
          <p:nvPr/>
        </p:nvSpPr>
        <p:spPr>
          <a:xfrm>
            <a:off x="9986536" y="6538700"/>
            <a:ext cx="965769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r>
              <a:t>June 2026</a:t>
            </a:r>
          </a:p>
        </p:txBody>
      </p:sp>
      <p:sp>
        <p:nvSpPr>
          <p:cNvPr id="287" name="Slide Number Placeholder 5"/>
          <p:cNvSpPr txBox="1"/>
          <p:nvPr>
            <p:ph type="sldNum" sz="quarter" idx="4294967295"/>
          </p:nvPr>
        </p:nvSpPr>
        <p:spPr>
          <a:xfrm>
            <a:off x="11680571" y="6538700"/>
            <a:ext cx="243143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GTU-ŞABLON-1">
  <a:themeElements>
    <a:clrScheme name="GTU-ŞABLON-1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GTU-ŞABLON-1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GTU-ŞABLON-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GTU-ŞABLON-1">
  <a:themeElements>
    <a:clrScheme name="GTU-ŞABLON-1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GTU-ŞABLON-1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GTU-ŞABLON-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